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Single-agent RAG</c:v>
                </c:pt>
              </c:strCache>
            </c:strRef>
          </c:tx>
          <c:spPr>
            <a:solidFill>
              <a:srgbClr val="8A939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645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Citation accuracy</c:v>
                  </c:pt>
                  <c:pt idx="1">
                    <c:v>Source coverage</c:v>
                  </c:pt>
                  <c:pt idx="2">
                    <c:v>Report quality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45</c:v>
                </c:pt>
                <c:pt idx="2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Multi-agent (ours)</c:v>
                </c:pt>
              </c:strCache>
            </c:strRef>
          </c:tx>
          <c:spPr>
            <a:solidFill>
              <a:srgbClr val="C7512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645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Citation accuracy</c:v>
                  </c:pt>
                  <c:pt idx="1">
                    <c:v>Source coverage</c:v>
                  </c:pt>
                  <c:pt idx="2">
                    <c:v>Report quality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</c:v>
                </c:pt>
                <c:pt idx="1">
                  <c:v>82</c:v>
                </c:pt>
                <c:pt idx="2">
                  <c:v>84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645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6454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8DB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9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6454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51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 ·  GENERATIVE AI APPLICATIONS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Deep Research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specialized agents over live web, news and paper search — credibility-scored sources, contradiction analysis, and per-stage model routing.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5074920"/>
            <a:ext cx="4754880" cy="0"/>
          </a:xfrm>
          <a:prstGeom prst="line">
            <a:avLst/>
          </a:prstGeom>
          <a:noFill/>
          <a:ln w="12700">
            <a:solidFill>
              <a:srgbClr val="4A52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2578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Girish B Hiremath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[XXXX]  ·  M.Tech Data Science &amp; AI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submission  ·  Weightage 20%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66960" y="5257800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C751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single LLM isn’t enough for research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035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146304" cy="146304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196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breadth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1488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answering one prompt explores a narrow slice of the source space and misses adjacent evidence.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81528"/>
            <a:ext cx="6035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300984"/>
            <a:ext cx="146304" cy="146304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2095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citations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538728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these questions directly, a frontier LLM cited 35 URLs — 12 of them dead.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471416"/>
            <a:ext cx="6035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4690872"/>
            <a:ext cx="146304" cy="146304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599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synthesize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928616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equivalent research by hand across many sources takes hours of reading and note-taking.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0" y="1691640"/>
            <a:ext cx="4206240" cy="4160520"/>
          </a:xfrm>
          <a:prstGeom prst="roundRect">
            <a:avLst>
              <a:gd name="adj" fmla="val 1319"/>
            </a:avLst>
          </a:prstGeom>
          <a:solidFill>
            <a:srgbClr val="1A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58952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0" y="2240280"/>
            <a:ext cx="3703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broadly → score → analyze → synthesize.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589520" y="3429000"/>
            <a:ext cx="3703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comes from three retrieval channels searched in parallel. Trust comes from scoring every source and reporting only from what was retrieved.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589520" y="5029200"/>
            <a:ext cx="3703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AA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is the product — retrieval and orchestration serve it.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Deep Research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3796" y="2011680"/>
            <a:ext cx="1965960" cy="1417320"/>
          </a:xfrm>
          <a:prstGeom prst="roundRect">
            <a:avLst>
              <a:gd name="adj" fmla="val 4516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6948" y="2157984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6948" y="2670048"/>
            <a:ext cx="181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news and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in parallel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33472" y="2514600"/>
            <a:ext cx="228600" cy="402336"/>
          </a:xfrm>
          <a:prstGeom prst="chevron">
            <a:avLst/>
          </a:prstGeom>
          <a:solidFill>
            <a:srgbClr val="C7512F"/>
          </a:solidFill>
          <a:ln/>
        </p:spPr>
      </p:sp>
      <p:sp>
        <p:nvSpPr>
          <p:cNvPr id="8" name="Shape 6"/>
          <p:cNvSpPr/>
          <p:nvPr/>
        </p:nvSpPr>
        <p:spPr>
          <a:xfrm>
            <a:off x="2875788" y="2011680"/>
            <a:ext cx="1965960" cy="1417320"/>
          </a:xfrm>
          <a:prstGeom prst="roundRect">
            <a:avLst>
              <a:gd name="adj" fmla="val 4516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8940" y="2157984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48940" y="2670048"/>
            <a:ext cx="181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Metadata, dates,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sentiment, types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55464" y="2514600"/>
            <a:ext cx="228600" cy="402336"/>
          </a:xfrm>
          <a:prstGeom prst="chevron">
            <a:avLst/>
          </a:prstGeom>
          <a:solidFill>
            <a:srgbClr val="C7512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97780" y="2011680"/>
            <a:ext cx="1965960" cy="1417320"/>
          </a:xfrm>
          <a:prstGeom prst="roundRect">
            <a:avLst>
              <a:gd name="adj" fmla="val 4516"/>
            </a:avLst>
          </a:prstGeom>
          <a:solidFill>
            <a:srgbClr val="1A1D21"/>
          </a:solidFill>
          <a:ln w="12700">
            <a:solidFill>
              <a:srgbClr val="1A1D2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0932" y="2157984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×2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70932" y="2670048"/>
            <a:ext cx="181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scoring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contradictions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77456" y="2514600"/>
            <a:ext cx="228600" cy="402336"/>
          </a:xfrm>
          <a:prstGeom prst="chevron">
            <a:avLst/>
          </a:prstGeom>
          <a:solidFill>
            <a:srgbClr val="C7512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9772" y="2011680"/>
            <a:ext cx="1965960" cy="1417320"/>
          </a:xfrm>
          <a:prstGeom prst="roundRect">
            <a:avLst>
              <a:gd name="adj" fmla="val 4516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92924" y="2157984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92924" y="2670048"/>
            <a:ext cx="181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Hypotheses, trends,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chains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299448" y="2514600"/>
            <a:ext cx="228600" cy="402336"/>
          </a:xfrm>
          <a:prstGeom prst="chevron">
            <a:avLst/>
          </a:prstGeom>
          <a:solidFill>
            <a:srgbClr val="C7512F"/>
          </a:solidFill>
          <a:ln/>
        </p:spPr>
      </p:sp>
      <p:sp>
        <p:nvSpPr>
          <p:cNvPr id="20" name="Shape 18"/>
          <p:cNvSpPr/>
          <p:nvPr/>
        </p:nvSpPr>
        <p:spPr>
          <a:xfrm>
            <a:off x="9541764" y="2011680"/>
            <a:ext cx="1965960" cy="1417320"/>
          </a:xfrm>
          <a:prstGeom prst="roundRect">
            <a:avLst>
              <a:gd name="adj" fmla="val 4516"/>
            </a:avLst>
          </a:prstGeom>
          <a:solidFill>
            <a:srgbClr val="1A1D21"/>
          </a:solidFill>
          <a:ln w="12700">
            <a:solidFill>
              <a:srgbClr val="1A1D2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14916" y="2157984"/>
            <a:ext cx="1819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614916" y="2670048"/>
            <a:ext cx="181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report from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sources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" y="3886200"/>
            <a:ext cx="10853928" cy="777240"/>
          </a:xfrm>
          <a:prstGeom prst="roundRect">
            <a:avLst>
              <a:gd name="adj" fmla="val 7059"/>
            </a:avLst>
          </a:prstGeom>
          <a:solidFill>
            <a:srgbClr val="F3E3DC"/>
          </a:solidFill>
          <a:ln w="15875">
            <a:solidFill>
              <a:srgbClr val="C751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8116" y="3886200"/>
            <a:ext cx="10305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SUBSTRATE    </a:t>
            </a:r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Tavily web search  ·  Perplexity fallback  ·  arXiv papers  ·  LangGraph shared state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67044" y="3429000"/>
            <a:ext cx="27432" cy="640080"/>
          </a:xfrm>
          <a:prstGeom prst="rect">
            <a:avLst/>
          </a:prstGeom>
          <a:solidFill>
            <a:srgbClr val="C7512F"/>
          </a:solidFill>
          <a:ln/>
        </p:spPr>
      </p:sp>
      <p:sp>
        <p:nvSpPr>
          <p:cNvPr id="26" name="Shape 24"/>
          <p:cNvSpPr/>
          <p:nvPr/>
        </p:nvSpPr>
        <p:spPr>
          <a:xfrm>
            <a:off x="6007608" y="3813048"/>
            <a:ext cx="146304" cy="146304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stages — parallel credibility analysis and the retrieval-grounded reporter — are the core contribution.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Deep Research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CORPUS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agents retrieve 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2468880"/>
          </a:xfrm>
          <a:prstGeom prst="roundRect">
            <a:avLst>
              <a:gd name="adj" fmla="val 2222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Tavily web search (live)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+ arXiv channels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corpus — live only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783080"/>
            <a:ext cx="3383280" cy="2468880"/>
          </a:xfrm>
          <a:prstGeom prst="roundRect">
            <a:avLst>
              <a:gd name="adj" fmla="val 2222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45152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vector store, opt-in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research_sources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enable_rag=False by default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783080"/>
            <a:ext cx="3383280" cy="2468880"/>
          </a:xfrm>
          <a:prstGeom prst="roundRect">
            <a:avLst>
              <a:gd name="adj" fmla="val 2222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94192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per channel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channels, asyncio.gather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Credibility-scored results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A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52628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grounding.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reporter is given only what the retriever actually fetched. Measured over 6 live queries: 17 sources per report, 62 of 64 citations grounded in a retrieved source, and every cited URL resolves.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Deep Research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&amp;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built on top of the base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256032" cy="256032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682496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Per-role prompt design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051560" y="20116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Retriever, enricher, analyzer, insight and reporter each run a distinct, purpose-built prompt.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596896"/>
            <a:ext cx="256032" cy="256032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23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51560" y="285292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writes into one typed LangGraph state that later stages read.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438144"/>
            <a:ext cx="256032" cy="256032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36499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&amp; routing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51560" y="3694176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calls Tavily, arXiv and a Perplexity fallback; the graph routes results into state.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279392"/>
            <a:ext cx="256032" cy="256032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062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Cost-tiered routing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51560" y="453542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runs on the cheapest capable model — an 84% cost cut per query.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256032" cy="256032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04748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scoring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051560" y="537667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+ LLM score per source, with contradictions flagged across sources.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52360" y="1737360"/>
            <a:ext cx="4069080" cy="4114800"/>
          </a:xfrm>
          <a:prstGeom prst="roundRect">
            <a:avLst>
              <a:gd name="adj" fmla="val 1348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26680" y="1965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STACK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26680" y="2377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15400" y="2377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orchestration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26680" y="2816352"/>
            <a:ext cx="3520440" cy="0"/>
          </a:xfrm>
          <a:prstGeom prst="line">
            <a:avLst/>
          </a:prstGeom>
          <a:noFill/>
          <a:ln w="9525">
            <a:solidFill>
              <a:srgbClr val="D8DB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26680" y="29260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91540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+ OpenRouter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26680" y="3364992"/>
            <a:ext cx="3520440" cy="0"/>
          </a:xfrm>
          <a:prstGeom prst="line">
            <a:avLst/>
          </a:prstGeom>
          <a:noFill/>
          <a:ln w="9525">
            <a:solidFill>
              <a:srgbClr val="D8DB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26680" y="34747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915400" y="3474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26680" y="3913632"/>
            <a:ext cx="3520440" cy="0"/>
          </a:xfrm>
          <a:prstGeom prst="line">
            <a:avLst/>
          </a:prstGeom>
          <a:noFill/>
          <a:ln w="9525">
            <a:solidFill>
              <a:srgbClr val="D8DBD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26680" y="40233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915400" y="4023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 / Redis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726680" y="4462272"/>
            <a:ext cx="3520440" cy="0"/>
          </a:xfrm>
          <a:prstGeom prst="line">
            <a:avLst/>
          </a:prstGeom>
          <a:noFill/>
          <a:ln w="9525">
            <a:solidFill>
              <a:srgbClr val="D8DB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26680" y="45720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91540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 + Chroma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726680" y="5010912"/>
            <a:ext cx="3520440" cy="0"/>
          </a:xfrm>
          <a:prstGeom prst="line">
            <a:avLst/>
          </a:prstGeom>
          <a:noFill/>
          <a:ln w="9525">
            <a:solidFill>
              <a:srgbClr val="D8DB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26680" y="51206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91540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Fly.io + Vercel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Deep Research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Live,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480310" cy="2286000"/>
          </a:xfrm>
          <a:prstGeom prst="roundRect">
            <a:avLst>
              <a:gd name="adj" fmla="val 2800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7627" y="2057400"/>
            <a:ext cx="585216" cy="585216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6" name="Text 4"/>
          <p:cNvSpPr/>
          <p:nvPr/>
        </p:nvSpPr>
        <p:spPr>
          <a:xfrm>
            <a:off x="1587627" y="2084832"/>
            <a:ext cx="585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2059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submits query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2059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entered in the web app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40430" y="1828800"/>
            <a:ext cx="2480310" cy="2286000"/>
          </a:xfrm>
          <a:prstGeom prst="roundRect">
            <a:avLst>
              <a:gd name="adj" fmla="val 2800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7977" y="2057400"/>
            <a:ext cx="585216" cy="585216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1" name="Text 9"/>
          <p:cNvSpPr/>
          <p:nvPr/>
        </p:nvSpPr>
        <p:spPr>
          <a:xfrm>
            <a:off x="4387977" y="2084832"/>
            <a:ext cx="585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77590" y="2788920"/>
            <a:ext cx="22059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enqueued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77590" y="3246120"/>
            <a:ext cx="22059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 worker picks the job off Redis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40780" y="1828800"/>
            <a:ext cx="2480310" cy="2286000"/>
          </a:xfrm>
          <a:prstGeom prst="roundRect">
            <a:avLst>
              <a:gd name="adj" fmla="val 2800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88327" y="2057400"/>
            <a:ext cx="585216" cy="585216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16" name="Text 14"/>
          <p:cNvSpPr/>
          <p:nvPr/>
        </p:nvSpPr>
        <p:spPr>
          <a:xfrm>
            <a:off x="7188327" y="2084832"/>
            <a:ext cx="585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77940" y="2788920"/>
            <a:ext cx="22059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execute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77940" y="3246120"/>
            <a:ext cx="22059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→ enricher → analysis ×2 → insight → reporter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41130" y="1828800"/>
            <a:ext cx="2480310" cy="2286000"/>
          </a:xfrm>
          <a:prstGeom prst="roundRect">
            <a:avLst>
              <a:gd name="adj" fmla="val 2800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88677" y="2057400"/>
            <a:ext cx="585216" cy="585216"/>
          </a:xfrm>
          <a:prstGeom prst="ellipse">
            <a:avLst/>
          </a:prstGeom>
          <a:solidFill>
            <a:srgbClr val="C7512F"/>
          </a:solidFill>
          <a:ln/>
        </p:spPr>
      </p:sp>
      <p:sp>
        <p:nvSpPr>
          <p:cNvPr id="21" name="Text 19"/>
          <p:cNvSpPr/>
          <p:nvPr/>
        </p:nvSpPr>
        <p:spPr>
          <a:xfrm>
            <a:off x="9988677" y="2084832"/>
            <a:ext cx="585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78290" y="2788920"/>
            <a:ext cx="22059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returned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78290" y="3246120"/>
            <a:ext cx="22059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report rendered; citations click through to sources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A1D21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48280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A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deep-research.intelliforge.tech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406640" y="50292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handles real queries end-to-end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Deep Research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 a single-LLM baseline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126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406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queries, 26 Jul 2026 · 48.6 s mean per report. Baseline: Claude Sonnet 4.5, no retrieval.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406640" y="1783080"/>
            <a:ext cx="4114800" cy="1170432"/>
          </a:xfrm>
          <a:prstGeom prst="roundRect">
            <a:avLst>
              <a:gd name="adj" fmla="val 4688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91109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5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96.9%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9372600" y="200253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citations grounded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72600" y="245973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64 · vs. 0% single LLM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06640" y="3081528"/>
            <a:ext cx="4114800" cy="1170432"/>
          </a:xfrm>
          <a:prstGeom prst="roundRect">
            <a:avLst>
              <a:gd name="adj" fmla="val 4688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35240" y="3209544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5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9372600" y="330098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per report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372600" y="37581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web · 5 papers · 6 news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06640" y="4379976"/>
            <a:ext cx="4114800" cy="1170432"/>
          </a:xfrm>
          <a:prstGeom prst="roundRect">
            <a:avLst>
              <a:gd name="adj" fmla="val 4688"/>
            </a:avLst>
          </a:prstGeom>
          <a:solidFill>
            <a:srgbClr val="F2F3F4"/>
          </a:solidFill>
          <a:ln w="12700">
            <a:solidFill>
              <a:srgbClr val="D8DBD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35240" y="4507992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5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9372600" y="45994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cited URLs resolve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372600" y="5056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65.7% single LLM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Deep Research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51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94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shows, and where it goes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AA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52120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questions put to one frontier LLM produced 0% grounded citations and a third dead links.</a:t>
            </a:r>
            <a:endParaRPr lang="en-US" sz="140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scoring and contradiction analysis are separate pipeline stages, not prompt afterthoughts.</a:t>
            </a:r>
            <a:endParaRPr lang="en-US" sz="140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contribution is per-stage model routing, credibility scoring and the cited-report pipeline.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0" y="1965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AA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92240" y="228600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costs latency: 48.6 s per report against 20 s for a single model.</a:t>
            </a:r>
            <a:endParaRPr lang="en-US" sz="1400" dirty="0"/>
          </a:p>
          <a:p>
            <a:pPr marL="177800" indent="-1778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quality is bounded by what the three retrieval channels return.</a:t>
            </a:r>
            <a:endParaRPr lang="en-US" sz="1400" dirty="0"/>
          </a:p>
          <a:p>
            <a:pPr marL="177800" indent="-1778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claim-level verification, a wider eval set, and adaptive retrieval depth.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10881360" cy="0"/>
          </a:xfrm>
          <a:prstGeom prst="line">
            <a:avLst/>
          </a:prstGeom>
          <a:noFill/>
          <a:ln w="12700">
            <a:solidFill>
              <a:srgbClr val="4A52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806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—  demo &amp; viva to follow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63840" y="5806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75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deep-research.intelliforge.tech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2026-07-25T16:54:11Z</dcterms:created>
  <dcterms:modified xsi:type="dcterms:W3CDTF">2026-07-25T16:54:11Z</dcterms:modified>
</cp:coreProperties>
</file>