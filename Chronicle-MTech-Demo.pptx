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Chronicle is a working, deployed multi-agent research system. The headline claim I want you to hold onto for the next ten minutes is not that it uses five agents — it's that I measured whether the citations it produces are real, against a single-LLM baseline, and the gap is 96.9 percent versus zero.</a:t>
            </a:r>
          </a:p>
          <a:p/>
          <a:p>
            <a:r>
              <a:t>• Open the live site in a second tab before you start.</a:t>
            </a:r>
          </a:p>
          <a:p>
            <a:r>
              <a:t>• Say 'deployed' early — the guideline asks for a working implementation.</a:t>
            </a:r>
          </a:p>
          <a:p>
            <a:r>
              <a:t>• Don't spend more than 30 seconds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 problem I'm solving isn't that language models give bad answers to research questions. It's that they give confident answers with fabricated sources. When I built the single-LLM baseline for this project and checked every URL it cited, twelve of thirty-five were dead links. That's the failure mode, and it's invisible unless you go and check — which is exactly what the evaluation harness does.</a:t>
            </a:r>
          </a:p>
          <a:p/>
          <a:p>
            <a:r>
              <a:t>• The 12-of-35 number is yours, from your own harness — say that.</a:t>
            </a:r>
          </a:p>
          <a:p>
            <a:r>
              <a:t>• This slide sets up the whole deck: the metric is grounding, not fluency.</a:t>
            </a:r>
          </a:p>
          <a:p>
            <a:r>
              <a:t>• Bridge line: 'so the architecture follows from that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Here's what the user actually gets. You type a founder-style question, and about fifty seconds later you have a markdown report — roughly seventeen sources, thirteen citations, with contradictions between those sources called out explicitly rather than smoothed over. All of these numbers come from a measured run of six queries against the live deployment, not from a spec.</a:t>
            </a:r>
          </a:p>
          <a:p/>
          <a:p>
            <a:r>
              <a:t>• THIS IS THE DEMO CUE — switch to the live site now if demoing live.</a:t>
            </a:r>
          </a:p>
          <a:p>
            <a:r>
              <a:t>• Click a starter query so you don't fumble typing.</a:t>
            </a:r>
          </a:p>
          <a:p>
            <a:r>
              <a:t>• While it runs, narrate the agent-step stream on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Architecturally this is a LangGraph state machine with five nodes. The reason it isn't one big prompt is that these are genuinely different cognitive tasks with different failure modes — retrieval fails by returning nothing, analysis fails by hallucinating structure, report writing fails by inventing sources. Separating them means each failure is detectable and attributable to a stage.</a:t>
            </a:r>
          </a:p>
          <a:p/>
          <a:p>
            <a:r>
              <a:t>• If asked 'why not one prompt' — this is the answer, so know it cold.</a:t>
            </a:r>
          </a:p>
          <a:p>
            <a:r>
              <a:t>• Refuse-on-empty is a strong point: mention you found that bug yourself.</a:t>
            </a:r>
          </a:p>
          <a:p>
            <a:r>
              <a:t>• Keep to ~45 seconds; the detail slides come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On the dataset question: there is no fine-tuning and no fixed corpus. Every query builds its own evidence set at runtime, and those retrieved URLs are retained in the graph state — that retained set is precisely what I later score the report's citations against. Without keeping it, grounding would be unmeasurable.</a:t>
            </a:r>
          </a:p>
          <a:p/>
          <a:p>
            <a:r>
              <a:t>• The guideline asks for 'dataset used' — this slide is that answer. Say 'no fine-tuning' explicitly.</a:t>
            </a:r>
          </a:p>
          <a:p>
            <a:r>
              <a:t>• The arXiv bug is a good detail: shows you debugged real integration failures.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This is the customization layer. Each stage runs the smallest model that does its job, with temperature tuned to the task — point-one for query shaping, point-seven where I want hypotheses to diverge, point-two for report assembly so it doesn't get creative with facts. Every default sits on a free tier, so a full run costs nothing, and one environment variable swaps the analyzer to Claude when the reasoning quality is worth paying for.</a:t>
            </a:r>
          </a:p>
          <a:p/>
          <a:p>
            <a:r>
              <a:t>• Temperature rationale is a likely viva question — have the 0.1 / 0.7 / 0.2 reasoning ready.</a:t>
            </a:r>
          </a:p>
          <a:p>
            <a:r>
              <a:t>• 'Credibility has its own slot' -&gt; so one provider's rate limit can't kill two stages.</a:t>
            </a:r>
          </a:p>
          <a:p>
            <a:r>
              <a:t>• Zero-cost is a real engineering result, not a gimmick — say why it matters for a student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These four are the implementation details I'd actually defend. They share a theme: every one of them returned a two-hundred OK with a perfectly normal-looking report. The token-floor one is my favourite — Gemini charges its own internal reasoning against the output budget, so a two-thousand-token cap was spent thinking and the response truncated mid-structure. The analyzer looked broken; the model was fine; the budget was wrong.</a:t>
            </a:r>
          </a:p>
          <a:p/>
          <a:p>
            <a:r>
              <a:t>• Pick ONE to tell as a story if time is short — the token floor is the most interesting.</a:t>
            </a:r>
          </a:p>
          <a:p>
            <a:r>
              <a:t>• 'Silent failure' is your engineering thesis. Land that sentence.</a:t>
            </a:r>
          </a:p>
          <a:p>
            <a:r>
              <a:t>• These show debugging depth — examiners reward this more than architecture diagrams.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It's deployed, not a notebook. Next.js on Vercel, a FastAPI and LangGraph container on Fly, Postgres on Neon, and Redis-backed job queueing for the long runs. One operational detail worth mentioning: I had to pin the Fly minimum machine count to one, because scale-to-zero cold starts were blowing past the proxy timeout on the first request of the day — which is exactly the request an examiner makes.</a:t>
            </a:r>
          </a:p>
          <a:p/>
          <a:p>
            <a:r>
              <a:t>• The cold-start line usually gets a laugh and shows production awareness.</a:t>
            </a:r>
          </a:p>
          <a:p>
            <a:r>
              <a:t>• Have the health endpoint open in a tab in case they ask 'is it really live'.</a:t>
            </a:r>
          </a:p>
          <a:p>
            <a:r>
              <a:t>• MCP is a differentiator — mention it even if you don't demo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You can't objectively score whether a research report is good. But you can objectively score whether its citations are real — so that's the metric I built the harness around. Grounding means a cited URL matches something the retriever genuinely fetched. And I want to be upfront about one thing: the baseline scoring zero percent grounded is true by construction, because it has no retrieval set. The number that actually carries information is that only sixty-six percent of its URLs resolve at all.</a:t>
            </a:r>
          </a:p>
          <a:p/>
          <a:p>
            <a:r>
              <a:t>• Volunteering the 'true by construction' caveat BEFORE they catch it is worth real marks.</a:t>
            </a:r>
          </a:p>
          <a:p>
            <a:r>
              <a:t>• If they push: 'the resolve rate is the independent check, and it's 65.7%.'</a:t>
            </a:r>
          </a:p>
          <a:p>
            <a:r>
              <a:t>• Know the exact matching rule: exact normalized URL, then same-domain fallback.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This is the result the project stands on. Sixty-two of sixty-four citations in the multi-agent reports point at a source the system genuinely fetched, and all sixty-four resolve when you actually request them. The single model, asked the same six questions, produced thirty-five citations of which twelve are dead links. That's the hallucinated-citation problem measured rather than asserted — and the cost of fixing it is that we're two-point-four times slower.</a:t>
            </a:r>
          </a:p>
          <a:p/>
          <a:p>
            <a:r>
              <a:t>• Slow down here. This is the slide the whole deck exists for.</a:t>
            </a:r>
          </a:p>
          <a:p>
            <a:r>
              <a:t>• Say the trade-off out loud — latency is the price of grounding, not a defect.</a:t>
            </a:r>
          </a:p>
          <a:p>
            <a:r>
              <a:t>• If they ask about the date: numbers are from 26 Jul with the Claude-routed analyzer. Next slide covers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I want to show this slide rather than hide it, because it's the strongest argument for building the harness at all. The deployment was serving mock analysis — canned strings, identical across every query — and the web UI looked completely fine. The last row is the one that stings: handed zero sources, the report agent confidently wrote an ungrounded report. That is the exact failure this project exists to prevent, occurring inside the product that exists to prevent it. It now refuses.</a:t>
            </a:r>
          </a:p>
          <a:p/>
          <a:p>
            <a:r>
              <a:t>• Lead with 'I want to show this rather than hide it' — frames honesty as rigour.</a:t>
            </a:r>
          </a:p>
          <a:p>
            <a:r>
              <a:t>• The 6.2s pre-fix latency is a great line: fast because it was doing nothing.</a:t>
            </a:r>
          </a:p>
          <a:p>
            <a:r>
              <a:t>• Expect a question here. It's the most interesting slide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Four honest limits. The one I'd flag hardest is the last: those results were measured with a Claude Sonnet analyzer, and the pipeline now defaults to free-tier models. I ran a live query this morning to confirm the pipeline is healthy on the current routing — sixty-four seconds, no degraded stages, seventeen sources — but I have not re-scored grounding on it. So I'd describe the ninety-seven percent as measured under the configuration stated, not as a standing guarantee.</a:t>
            </a:r>
          </a:p>
          <a:p/>
          <a:p>
            <a:r>
              <a:t>• Having this slide at all is worth marks. Do not skip it under time pressure.</a:t>
            </a:r>
          </a:p>
          <a:p>
            <a:r>
              <a:t>• If an examiner finds a limit you already listed, you've won the exchange.</a:t>
            </a:r>
          </a:p>
          <a:p>
            <a:r>
              <a:t>• Today's spot-check: 63.8 s, degraded: [], 17 sources, 4 claims, 3 contradictions.</a:t>
            </a:r>
          </a:p>
          <a:p>
            <a:r>
              <a:t>• Offer the re-run: 'python eval/run_eval.py --check-urls, about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Five takeaways. The one I'd want remembered: decomposition bought me verifiability, not just answer quality. Because retrieval is its own stage that keeps its output in state, 'is this citation real' becomes something I can compute. Inside a single prompt, that question has no answer at all — and that's the whole argument for multi-agent here.</a:t>
            </a:r>
          </a:p>
          <a:p/>
          <a:p>
            <a:r>
              <a:t>• If you only get one sentence, use the decomposition-buys-verifiability line.</a:t>
            </a:r>
          </a:p>
          <a:p>
            <a:r>
              <a:t>• Tie back to slide 1 so the deck closes its loop.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Future work in the order I'd actually do it. Top of the list is a verification pass that simply refuses to emit a citation that doesn't match a retrieved source — that closes the three-percent grounding gap structurally rather than by prompting harder. Second is re-running the harness on the current free-tier routing, which is honestly overdue.</a:t>
            </a:r>
          </a:p>
          <a:p/>
          <a:p>
            <a:r>
              <a:t>• Ordering by priority reads as engineering judgement, not a wishlist.</a:t>
            </a:r>
          </a:p>
          <a:p>
            <a:r>
              <a:t>• Don't oversell the planned items — 'designed' and 'planned' are different words for a reason.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That's Chronicle. It's live at that URL right now if you want to run a query yourself, and the evaluation harness and raw result files are in the repository under eval. Happy to take questions.</a:t>
            </a:r>
          </a:p>
          <a:p/>
          <a:p>
            <a:r>
              <a:t>• Invite them to run a query — confidence signal, and it works.</a:t>
            </a:r>
          </a:p>
          <a:p>
            <a:r>
              <a:t>• Have eval/results/eval-live-fixed.md open in case they want raw numbers.</a:t>
            </a:r>
          </a:p>
          <a:p>
            <a:r>
              <a:t>• Common questions: why not one prompt · how is credibility scored · what's the dataset · is 96.9% cherry-picked.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417320"/>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50" b="0" i="0" spc="200">
                <a:solidFill>
                  <a:srgbClr val="727B8C"/>
                </a:solidFill>
                <a:latin typeface="Consolas"/>
              </a:rPr>
              <a:t>GENERATIVE AI APPLICATIONS  ·  COURSE PROJECT</a:t>
            </a:r>
          </a:p>
        </p:txBody>
      </p:sp>
      <p:sp>
        <p:nvSpPr>
          <p:cNvPr id="6" name="TextBox 5"/>
          <p:cNvSpPr txBox="1"/>
          <p:nvPr/>
        </p:nvSpPr>
        <p:spPr>
          <a:xfrm>
            <a:off x="1042416" y="1783080"/>
            <a:ext cx="10582351" cy="1097280"/>
          </a:xfrm>
          <a:prstGeom prst="rect">
            <a:avLst/>
          </a:prstGeom>
          <a:noFill/>
        </p:spPr>
        <p:txBody>
          <a:bodyPr wrap="square" anchor="t" lIns="0" rIns="0" tIns="0" bIns="0">
            <a:spAutoFit/>
          </a:bodyPr>
          <a:lstStyle/>
          <a:p>
            <a:pPr algn="l">
              <a:lnSpc>
                <a:spcPct val="100000"/>
              </a:lnSpc>
              <a:spcBef>
                <a:spcPts val="0"/>
              </a:spcBef>
              <a:spcAft>
                <a:spcPts val="0"/>
              </a:spcAft>
            </a:pPr>
            <a:r>
              <a:rPr sz="6000" b="1" i="0">
                <a:solidFill>
                  <a:srgbClr val="161A22"/>
                </a:solidFill>
                <a:latin typeface="Georgia"/>
              </a:rPr>
              <a:t>Chronicle</a:t>
            </a:r>
          </a:p>
        </p:txBody>
      </p:sp>
      <p:sp>
        <p:nvSpPr>
          <p:cNvPr id="7" name="TextBox 6"/>
          <p:cNvSpPr txBox="1"/>
          <p:nvPr/>
        </p:nvSpPr>
        <p:spPr>
          <a:xfrm>
            <a:off x="1042416" y="2926080"/>
            <a:ext cx="7619292" cy="822960"/>
          </a:xfrm>
          <a:prstGeom prst="rect">
            <a:avLst/>
          </a:prstGeom>
          <a:noFill/>
        </p:spPr>
        <p:txBody>
          <a:bodyPr wrap="square" anchor="t" lIns="0" rIns="0" tIns="0" bIns="0">
            <a:spAutoFit/>
          </a:bodyPr>
          <a:lstStyle/>
          <a:p>
            <a:pPr algn="l">
              <a:lnSpc>
                <a:spcPct val="142000"/>
              </a:lnSpc>
              <a:spcBef>
                <a:spcPts val="0"/>
              </a:spcBef>
              <a:spcAft>
                <a:spcPts val="0"/>
              </a:spcAft>
            </a:pPr>
            <a:r>
              <a:rPr sz="1650" b="0" i="0">
                <a:solidFill>
                  <a:srgbClr val="464E5E"/>
                </a:solidFill>
                <a:latin typeface="Calibri"/>
              </a:rPr>
              <a:t>A five-agent research pipeline that produces cited market-research reports — and an evaluation harness that proves the citations are real.</a:t>
            </a:r>
          </a:p>
        </p:txBody>
      </p:sp>
      <p:sp>
        <p:nvSpPr>
          <p:cNvPr id="8" name="Rectangle 7"/>
          <p:cNvSpPr/>
          <p:nvPr/>
        </p:nvSpPr>
        <p:spPr>
          <a:xfrm>
            <a:off x="1042416" y="3977639"/>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315968"/>
            <a:ext cx="4656234"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AUTHOR</a:t>
            </a:r>
          </a:p>
        </p:txBody>
      </p:sp>
      <p:sp>
        <p:nvSpPr>
          <p:cNvPr id="10" name="TextBox 9"/>
          <p:cNvSpPr txBox="1"/>
          <p:nvPr/>
        </p:nvSpPr>
        <p:spPr>
          <a:xfrm>
            <a:off x="1042416" y="4544568"/>
            <a:ext cx="4656234" cy="219456"/>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464E5E"/>
                </a:solidFill>
                <a:latin typeface="Calibri"/>
              </a:rPr>
              <a:t>Girish Hiremath</a:t>
            </a:r>
          </a:p>
        </p:txBody>
      </p:sp>
      <p:sp>
        <p:nvSpPr>
          <p:cNvPr id="11" name="TextBox 10"/>
          <p:cNvSpPr txBox="1"/>
          <p:nvPr/>
        </p:nvSpPr>
        <p:spPr>
          <a:xfrm>
            <a:off x="5910297" y="4315968"/>
            <a:ext cx="4656234"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LIVE DEMO</a:t>
            </a:r>
          </a:p>
        </p:txBody>
      </p:sp>
      <p:sp>
        <p:nvSpPr>
          <p:cNvPr id="12" name="TextBox 11"/>
          <p:cNvSpPr txBox="1"/>
          <p:nvPr/>
        </p:nvSpPr>
        <p:spPr>
          <a:xfrm>
            <a:off x="5910297" y="4544568"/>
            <a:ext cx="4656234" cy="219456"/>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464E5E"/>
                </a:solidFill>
                <a:latin typeface="Calibri"/>
              </a:rPr>
              <a:t>deep-research.intelliforge.tech</a:t>
            </a:r>
          </a:p>
        </p:txBody>
      </p:sp>
      <p:sp>
        <p:nvSpPr>
          <p:cNvPr id="13" name="TextBox 12"/>
          <p:cNvSpPr txBox="1"/>
          <p:nvPr/>
        </p:nvSpPr>
        <p:spPr>
          <a:xfrm>
            <a:off x="1042416" y="4974336"/>
            <a:ext cx="4656234"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TYPE</a:t>
            </a:r>
          </a:p>
        </p:txBody>
      </p:sp>
      <p:sp>
        <p:nvSpPr>
          <p:cNvPr id="14" name="TextBox 13"/>
          <p:cNvSpPr txBox="1"/>
          <p:nvPr/>
        </p:nvSpPr>
        <p:spPr>
          <a:xfrm>
            <a:off x="1042416" y="5202936"/>
            <a:ext cx="4656234" cy="219456"/>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464E5E"/>
                </a:solidFill>
                <a:latin typeface="Calibri"/>
              </a:rPr>
              <a:t>Working deployment · web + MCP</a:t>
            </a:r>
          </a:p>
        </p:txBody>
      </p:sp>
      <p:sp>
        <p:nvSpPr>
          <p:cNvPr id="15" name="TextBox 14"/>
          <p:cNvSpPr txBox="1"/>
          <p:nvPr/>
        </p:nvSpPr>
        <p:spPr>
          <a:xfrm>
            <a:off x="5910297" y="4974336"/>
            <a:ext cx="4656234"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SOURCE</a:t>
            </a:r>
          </a:p>
        </p:txBody>
      </p:sp>
      <p:sp>
        <p:nvSpPr>
          <p:cNvPr id="16" name="TextBox 15"/>
          <p:cNvSpPr txBox="1"/>
          <p:nvPr/>
        </p:nvSpPr>
        <p:spPr>
          <a:xfrm>
            <a:off x="5910297" y="5202936"/>
            <a:ext cx="4656234" cy="219456"/>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464E5E"/>
                </a:solidFill>
                <a:latin typeface="Calibri"/>
              </a:rPr>
              <a:t>github.com/gengirish/multi-agent-deep-research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01</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MOTIVATION</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APPLICATION &amp; MOTIVATION</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The failure isn't bad answers. It's fake sources.</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73936"/>
            <a:ext cx="9100822" cy="640080"/>
          </a:xfrm>
          <a:prstGeom prst="rect">
            <a:avLst/>
          </a:prstGeom>
          <a:noFill/>
        </p:spPr>
        <p:txBody>
          <a:bodyPr wrap="square" anchor="t" lIns="0" rIns="0" tIns="0" bIns="0">
            <a:spAutoFit/>
          </a:bodyPr>
          <a:lstStyle/>
          <a:p>
            <a:pPr algn="l">
              <a:lnSpc>
                <a:spcPct val="138000"/>
              </a:lnSpc>
              <a:spcBef>
                <a:spcPts val="0"/>
              </a:spcBef>
              <a:spcAft>
                <a:spcPts val="0"/>
              </a:spcAft>
            </a:pPr>
            <a:r>
              <a:rPr sz="1350" b="0" i="0">
                <a:solidFill>
                  <a:srgbClr val="464E5E"/>
                </a:solidFill>
                <a:latin typeface="Calibri"/>
              </a:rPr>
              <a:t>Founders and analysts run the same questions weekly — market size, competitors, regulation, funding. Every existing tool fails differently.</a:t>
            </a:r>
          </a:p>
        </p:txBody>
      </p:sp>
      <p:sp>
        <p:nvSpPr>
          <p:cNvPr id="12" name="Rectangle 11"/>
          <p:cNvSpPr/>
          <p:nvPr/>
        </p:nvSpPr>
        <p:spPr>
          <a:xfrm>
            <a:off x="1042416" y="2615184"/>
            <a:ext cx="3393338" cy="1481328"/>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25296" y="2770632"/>
            <a:ext cx="3027578"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973B34"/>
                </a:solidFill>
                <a:latin typeface="Consolas"/>
              </a:rPr>
              <a:t>SINGLE LLM</a:t>
            </a:r>
          </a:p>
        </p:txBody>
      </p:sp>
      <p:sp>
        <p:nvSpPr>
          <p:cNvPr id="14" name="TextBox 13"/>
          <p:cNvSpPr txBox="1"/>
          <p:nvPr/>
        </p:nvSpPr>
        <p:spPr>
          <a:xfrm>
            <a:off x="1225296" y="3035808"/>
            <a:ext cx="3027578" cy="914400"/>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Fluent report, invented URLs. Measured on this project's own baseline: 12 of 35 cited URLs did not resolve.</a:t>
            </a:r>
          </a:p>
        </p:txBody>
      </p:sp>
      <p:sp>
        <p:nvSpPr>
          <p:cNvPr id="15" name="Rectangle 14"/>
          <p:cNvSpPr/>
          <p:nvPr/>
        </p:nvSpPr>
        <p:spPr>
          <a:xfrm>
            <a:off x="4636922" y="2615184"/>
            <a:ext cx="3393338" cy="1481328"/>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9802" y="2770632"/>
            <a:ext cx="3027578"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SEARCH COPILOTS</a:t>
            </a:r>
          </a:p>
        </p:txBody>
      </p:sp>
      <p:sp>
        <p:nvSpPr>
          <p:cNvPr id="17" name="TextBox 16"/>
          <p:cNvSpPr txBox="1"/>
          <p:nvPr/>
        </p:nvSpPr>
        <p:spPr>
          <a:xfrm>
            <a:off x="4819802" y="3035808"/>
            <a:ext cx="3027578" cy="914400"/>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A paragraph with links, not a structured report you can defend in a deck or a viva.</a:t>
            </a:r>
          </a:p>
        </p:txBody>
      </p:sp>
      <p:sp>
        <p:nvSpPr>
          <p:cNvPr id="18" name="Rectangle 17"/>
          <p:cNvSpPr/>
          <p:nvPr/>
        </p:nvSpPr>
        <p:spPr>
          <a:xfrm>
            <a:off x="8231428" y="2615184"/>
            <a:ext cx="3393338" cy="1481328"/>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4308" y="2770632"/>
            <a:ext cx="3027578"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HUMAN ANALYST</a:t>
            </a:r>
          </a:p>
        </p:txBody>
      </p:sp>
      <p:sp>
        <p:nvSpPr>
          <p:cNvPr id="20" name="TextBox 19"/>
          <p:cNvSpPr txBox="1"/>
          <p:nvPr/>
        </p:nvSpPr>
        <p:spPr>
          <a:xfrm>
            <a:off x="8414308" y="3035808"/>
            <a:ext cx="3027578" cy="914400"/>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Correct, citable, and priced out of reach for the people who need it weekly.</a:t>
            </a:r>
          </a:p>
        </p:txBody>
      </p:sp>
      <p:sp>
        <p:nvSpPr>
          <p:cNvPr id="21" name="Rectangle 20"/>
          <p:cNvSpPr/>
          <p:nvPr/>
        </p:nvSpPr>
        <p:spPr>
          <a:xfrm>
            <a:off x="1042416" y="4430268"/>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25296" y="4334256"/>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The requirement: </a:t>
            </a:r>
            <a:r>
              <a:rPr sz="1300" b="0" i="0">
                <a:solidFill>
                  <a:srgbClr val="464E5E"/>
                </a:solidFill>
                <a:latin typeface="Calibri"/>
              </a:rPr>
              <a:t>every claim traceable to a source the system actually fetched — not one the model remembered.</a:t>
            </a:r>
          </a:p>
        </p:txBody>
      </p:sp>
      <p:sp>
        <p:nvSpPr>
          <p:cNvPr id="23" name="Rectangle 22"/>
          <p:cNvSpPr/>
          <p:nvPr/>
        </p:nvSpPr>
        <p:spPr>
          <a:xfrm>
            <a:off x="1042416" y="4759452"/>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5296" y="4663440"/>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The design consequence: </a:t>
            </a:r>
            <a:r>
              <a:rPr sz="1300" b="0" i="0">
                <a:solidFill>
                  <a:srgbClr val="464E5E"/>
                </a:solidFill>
                <a:latin typeface="Calibri"/>
              </a:rPr>
              <a:t>retrieval, scoring, analysis and writing become separate stages, because they fail separately.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02</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WHAT IT DOES</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WHAT IT DOES</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Question in, cited report out, in about a minute.</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73936"/>
            <a:ext cx="9100822" cy="640080"/>
          </a:xfrm>
          <a:prstGeom prst="rect">
            <a:avLst/>
          </a:prstGeom>
          <a:noFill/>
        </p:spPr>
        <p:txBody>
          <a:bodyPr wrap="square" anchor="t" lIns="0" rIns="0" tIns="0" bIns="0">
            <a:spAutoFit/>
          </a:bodyPr>
          <a:lstStyle/>
          <a:p>
            <a:pPr algn="l">
              <a:lnSpc>
                <a:spcPct val="138000"/>
              </a:lnSpc>
              <a:spcBef>
                <a:spcPts val="0"/>
              </a:spcBef>
              <a:spcAft>
                <a:spcPts val="0"/>
              </a:spcAft>
            </a:pPr>
            <a:r>
              <a:rPr sz="1350" b="0" i="0">
                <a:solidFill>
                  <a:srgbClr val="464E5E"/>
                </a:solidFill>
                <a:latin typeface="Calibri"/>
              </a:rPr>
              <a:t>No signup, no API key. Type a question, watch five agents run over Server-Sent Events, get a markdown report with live citations, credibility scores and flagged contradictions.</a:t>
            </a:r>
          </a:p>
        </p:txBody>
      </p:sp>
      <p:sp>
        <p:nvSpPr>
          <p:cNvPr id="12" name="Rectangle 11"/>
          <p:cNvSpPr/>
          <p:nvPr/>
        </p:nvSpPr>
        <p:spPr>
          <a:xfrm>
            <a:off x="1042416" y="2651760"/>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 y="2889504"/>
            <a:ext cx="3253130"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70">
                <a:solidFill>
                  <a:srgbClr val="727B8C"/>
                </a:solidFill>
                <a:latin typeface="Consolas"/>
              </a:rPr>
              <a:t>TIME TO CITED REPORT</a:t>
            </a:r>
          </a:p>
        </p:txBody>
      </p:sp>
      <p:sp>
        <p:nvSpPr>
          <p:cNvPr id="14" name="TextBox 13"/>
          <p:cNvSpPr txBox="1"/>
          <p:nvPr/>
        </p:nvSpPr>
        <p:spPr>
          <a:xfrm>
            <a:off x="1042416" y="3127248"/>
            <a:ext cx="3253130" cy="566928"/>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161A22"/>
                </a:solidFill>
                <a:latin typeface="Georgia"/>
              </a:rPr>
              <a:t>48.6 s</a:t>
            </a:r>
          </a:p>
        </p:txBody>
      </p:sp>
      <p:sp>
        <p:nvSpPr>
          <p:cNvPr id="15" name="TextBox 14"/>
          <p:cNvSpPr txBox="1"/>
          <p:nvPr/>
        </p:nvSpPr>
        <p:spPr>
          <a:xfrm>
            <a:off x="1042416" y="3712463"/>
            <a:ext cx="3253130" cy="201168"/>
          </a:xfrm>
          <a:prstGeom prst="rect">
            <a:avLst/>
          </a:prstGeom>
          <a:noFill/>
        </p:spPr>
        <p:txBody>
          <a:bodyPr wrap="square" anchor="t" lIns="0" rIns="0" tIns="0" bIns="0">
            <a:spAutoFit/>
          </a:bodyPr>
          <a:lstStyle/>
          <a:p>
            <a:pPr algn="l">
              <a:lnSpc>
                <a:spcPct val="128000"/>
              </a:lnSpc>
              <a:spcBef>
                <a:spcPts val="0"/>
              </a:spcBef>
              <a:spcAft>
                <a:spcPts val="0"/>
              </a:spcAft>
            </a:pPr>
            <a:r>
              <a:rPr sz="1000" b="0" i="0">
                <a:solidFill>
                  <a:srgbClr val="727B8C"/>
                </a:solidFill>
                <a:latin typeface="Consolas"/>
              </a:rPr>
              <a:t>median 45.8 · range 43–59</a:t>
            </a:r>
          </a:p>
        </p:txBody>
      </p:sp>
      <p:sp>
        <p:nvSpPr>
          <p:cNvPr id="16" name="Rectangle 15"/>
          <p:cNvSpPr/>
          <p:nvPr/>
        </p:nvSpPr>
        <p:spPr>
          <a:xfrm>
            <a:off x="4560722" y="2743200"/>
            <a:ext cx="8229" cy="118872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9322" y="2889504"/>
            <a:ext cx="3253130"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70">
                <a:solidFill>
                  <a:srgbClr val="727B8C"/>
                </a:solidFill>
                <a:latin typeface="Consolas"/>
              </a:rPr>
              <a:t>SOURCES PER REPORT</a:t>
            </a:r>
          </a:p>
        </p:txBody>
      </p:sp>
      <p:sp>
        <p:nvSpPr>
          <p:cNvPr id="18" name="TextBox 17"/>
          <p:cNvSpPr txBox="1"/>
          <p:nvPr/>
        </p:nvSpPr>
        <p:spPr>
          <a:xfrm>
            <a:off x="4789322" y="3127248"/>
            <a:ext cx="3253130" cy="566928"/>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161A22"/>
                </a:solidFill>
                <a:latin typeface="Georgia"/>
              </a:rPr>
              <a:t>17</a:t>
            </a:r>
          </a:p>
        </p:txBody>
      </p:sp>
      <p:sp>
        <p:nvSpPr>
          <p:cNvPr id="19" name="TextBox 18"/>
          <p:cNvSpPr txBox="1"/>
          <p:nvPr/>
        </p:nvSpPr>
        <p:spPr>
          <a:xfrm>
            <a:off x="4789322" y="3712463"/>
            <a:ext cx="3253130" cy="201168"/>
          </a:xfrm>
          <a:prstGeom prst="rect">
            <a:avLst/>
          </a:prstGeom>
          <a:noFill/>
        </p:spPr>
        <p:txBody>
          <a:bodyPr wrap="square" anchor="t" lIns="0" rIns="0" tIns="0" bIns="0">
            <a:spAutoFit/>
          </a:bodyPr>
          <a:lstStyle/>
          <a:p>
            <a:pPr algn="l">
              <a:lnSpc>
                <a:spcPct val="128000"/>
              </a:lnSpc>
              <a:spcBef>
                <a:spcPts val="0"/>
              </a:spcBef>
              <a:spcAft>
                <a:spcPts val="0"/>
              </a:spcAft>
            </a:pPr>
            <a:r>
              <a:rPr sz="1000" b="0" i="0">
                <a:solidFill>
                  <a:srgbClr val="727B8C"/>
                </a:solidFill>
                <a:latin typeface="Consolas"/>
              </a:rPr>
              <a:t>8.6 distinct domains</a:t>
            </a:r>
          </a:p>
        </p:txBody>
      </p:sp>
      <p:sp>
        <p:nvSpPr>
          <p:cNvPr id="20" name="Rectangle 19"/>
          <p:cNvSpPr/>
          <p:nvPr/>
        </p:nvSpPr>
        <p:spPr>
          <a:xfrm>
            <a:off x="8088172" y="2743200"/>
            <a:ext cx="8229" cy="118872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6772" y="2889504"/>
            <a:ext cx="3253130"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70">
                <a:solidFill>
                  <a:srgbClr val="727B8C"/>
                </a:solidFill>
                <a:latin typeface="Consolas"/>
              </a:rPr>
              <a:t>CITATIONS PER REPORT</a:t>
            </a:r>
          </a:p>
        </p:txBody>
      </p:sp>
      <p:sp>
        <p:nvSpPr>
          <p:cNvPr id="22" name="TextBox 21"/>
          <p:cNvSpPr txBox="1"/>
          <p:nvPr/>
        </p:nvSpPr>
        <p:spPr>
          <a:xfrm>
            <a:off x="8316772" y="3127248"/>
            <a:ext cx="3253130" cy="566928"/>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161A22"/>
                </a:solidFill>
                <a:latin typeface="Georgia"/>
              </a:rPr>
              <a:t>12.8</a:t>
            </a:r>
          </a:p>
        </p:txBody>
      </p:sp>
      <p:sp>
        <p:nvSpPr>
          <p:cNvPr id="23" name="TextBox 22"/>
          <p:cNvSpPr txBox="1"/>
          <p:nvPr/>
        </p:nvSpPr>
        <p:spPr>
          <a:xfrm>
            <a:off x="8316772" y="3712463"/>
            <a:ext cx="3253130" cy="201168"/>
          </a:xfrm>
          <a:prstGeom prst="rect">
            <a:avLst/>
          </a:prstGeom>
          <a:noFill/>
        </p:spPr>
        <p:txBody>
          <a:bodyPr wrap="square" anchor="t" lIns="0" rIns="0" tIns="0" bIns="0">
            <a:spAutoFit/>
          </a:bodyPr>
          <a:lstStyle/>
          <a:p>
            <a:pPr algn="l">
              <a:lnSpc>
                <a:spcPct val="128000"/>
              </a:lnSpc>
              <a:spcBef>
                <a:spcPts val="0"/>
              </a:spcBef>
              <a:spcAft>
                <a:spcPts val="0"/>
              </a:spcAft>
            </a:pPr>
            <a:r>
              <a:rPr sz="1000" b="0" i="0">
                <a:solidFill>
                  <a:srgbClr val="727B8C"/>
                </a:solidFill>
                <a:latin typeface="Consolas"/>
              </a:rPr>
              <a:t>5.4 contradictions flagged</a:t>
            </a:r>
          </a:p>
        </p:txBody>
      </p:sp>
      <p:sp>
        <p:nvSpPr>
          <p:cNvPr id="24" name="Rectangle 23"/>
          <p:cNvSpPr/>
          <p:nvPr/>
        </p:nvSpPr>
        <p:spPr>
          <a:xfrm>
            <a:off x="1042416" y="4023360"/>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2416" y="4357116"/>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5296" y="4261104"/>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Two surfaces, one pipeline: </a:t>
            </a:r>
            <a:r>
              <a:rPr sz="1300" b="0" i="0">
                <a:solidFill>
                  <a:srgbClr val="464E5E"/>
                </a:solidFill>
                <a:latin typeface="Calibri"/>
              </a:rPr>
              <a:t>a Next.js web app, and an MCP server so the same research runs inside Cursor or Claude Desktop.</a:t>
            </a:r>
          </a:p>
        </p:txBody>
      </p:sp>
      <p:sp>
        <p:nvSpPr>
          <p:cNvPr id="27" name="Rectangle 26"/>
          <p:cNvSpPr/>
          <p:nvPr/>
        </p:nvSpPr>
        <p:spPr>
          <a:xfrm>
            <a:off x="1042416" y="4924044"/>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25296" y="4828032"/>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It shows its work</a:t>
            </a:r>
            <a:r>
              <a:rPr sz="1300" b="0" i="0">
                <a:solidFill>
                  <a:srgbClr val="464E5E"/>
                </a:solidFill>
                <a:latin typeface="Calibri"/>
              </a:rPr>
              <a:t> — every agent step streams to the UI as it happens, and degraded stages are named in a banner rather than hidden.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03</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TECHNIQUE</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MODEL &amp; TECHNIQUE</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Five agents as a LangGraph state machine</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 y="1773936"/>
            <a:ext cx="2116470" cy="1389888"/>
          </a:xfrm>
          <a:prstGeom prst="rect">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1920240"/>
            <a:ext cx="1823862"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2E4A8F"/>
                </a:solidFill>
                <a:latin typeface="Consolas"/>
              </a:rPr>
              <a:t>01</a:t>
            </a:r>
          </a:p>
        </p:txBody>
      </p:sp>
      <p:sp>
        <p:nvSpPr>
          <p:cNvPr id="13" name="TextBox 12"/>
          <p:cNvSpPr txBox="1"/>
          <p:nvPr/>
        </p:nvSpPr>
        <p:spPr>
          <a:xfrm>
            <a:off x="1188720" y="2139696"/>
            <a:ext cx="1823862" cy="256032"/>
          </a:xfrm>
          <a:prstGeom prst="rect">
            <a:avLst/>
          </a:prstGeom>
          <a:noFill/>
        </p:spPr>
        <p:txBody>
          <a:bodyPr wrap="square" anchor="t" lIns="0" rIns="0" tIns="0" bIns="0">
            <a:spAutoFit/>
          </a:bodyPr>
          <a:lstStyle/>
          <a:p>
            <a:pPr algn="l">
              <a:lnSpc>
                <a:spcPct val="128000"/>
              </a:lnSpc>
              <a:spcBef>
                <a:spcPts val="0"/>
              </a:spcBef>
              <a:spcAft>
                <a:spcPts val="0"/>
              </a:spcAft>
            </a:pPr>
            <a:r>
              <a:rPr sz="1500" b="1" i="0">
                <a:solidFill>
                  <a:srgbClr val="161A22"/>
                </a:solidFill>
                <a:latin typeface="Georgia"/>
              </a:rPr>
              <a:t>Retriever</a:t>
            </a:r>
          </a:p>
        </p:txBody>
      </p:sp>
      <p:sp>
        <p:nvSpPr>
          <p:cNvPr id="14" name="TextBox 13"/>
          <p:cNvSpPr txBox="1"/>
          <p:nvPr/>
        </p:nvSpPr>
        <p:spPr>
          <a:xfrm>
            <a:off x="1188720" y="2432304"/>
            <a:ext cx="1823862" cy="64008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27B8C"/>
                </a:solidFill>
                <a:latin typeface="Calibri"/>
              </a:rPr>
              <a:t>Tavily web search, arXiv SDK, news. Builds the candidate source set.</a:t>
            </a:r>
          </a:p>
        </p:txBody>
      </p:sp>
      <p:sp>
        <p:nvSpPr>
          <p:cNvPr id="15" name="Rectangle 14"/>
          <p:cNvSpPr/>
          <p:nvPr/>
        </p:nvSpPr>
        <p:spPr>
          <a:xfrm>
            <a:off x="3158886" y="1773936"/>
            <a:ext cx="2116470" cy="1389888"/>
          </a:xfrm>
          <a:prstGeom prst="rect">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05190" y="1920240"/>
            <a:ext cx="1823862"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2E4A8F"/>
                </a:solidFill>
                <a:latin typeface="Consolas"/>
              </a:rPr>
              <a:t>02</a:t>
            </a:r>
          </a:p>
        </p:txBody>
      </p:sp>
      <p:sp>
        <p:nvSpPr>
          <p:cNvPr id="17" name="TextBox 16"/>
          <p:cNvSpPr txBox="1"/>
          <p:nvPr/>
        </p:nvSpPr>
        <p:spPr>
          <a:xfrm>
            <a:off x="3305190" y="2139696"/>
            <a:ext cx="1823862" cy="256032"/>
          </a:xfrm>
          <a:prstGeom prst="rect">
            <a:avLst/>
          </a:prstGeom>
          <a:noFill/>
        </p:spPr>
        <p:txBody>
          <a:bodyPr wrap="square" anchor="t" lIns="0" rIns="0" tIns="0" bIns="0">
            <a:spAutoFit/>
          </a:bodyPr>
          <a:lstStyle/>
          <a:p>
            <a:pPr algn="l">
              <a:lnSpc>
                <a:spcPct val="128000"/>
              </a:lnSpc>
              <a:spcBef>
                <a:spcPts val="0"/>
              </a:spcBef>
              <a:spcAft>
                <a:spcPts val="0"/>
              </a:spcAft>
            </a:pPr>
            <a:r>
              <a:rPr sz="1500" b="1" i="0">
                <a:solidFill>
                  <a:srgbClr val="161A22"/>
                </a:solidFill>
                <a:latin typeface="Georgia"/>
              </a:rPr>
              <a:t>Enricher</a:t>
            </a:r>
          </a:p>
        </p:txBody>
      </p:sp>
      <p:sp>
        <p:nvSpPr>
          <p:cNvPr id="18" name="TextBox 17"/>
          <p:cNvSpPr txBox="1"/>
          <p:nvPr/>
        </p:nvSpPr>
        <p:spPr>
          <a:xfrm>
            <a:off x="3305190" y="2432304"/>
            <a:ext cx="1823862" cy="64008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27B8C"/>
                </a:solidFill>
                <a:latin typeface="Calibri"/>
              </a:rPr>
              <a:t>Metadata, publication dates, source-type classification, sentiment.</a:t>
            </a:r>
          </a:p>
        </p:txBody>
      </p:sp>
      <p:sp>
        <p:nvSpPr>
          <p:cNvPr id="19" name="Rectangle 18"/>
          <p:cNvSpPr/>
          <p:nvPr/>
        </p:nvSpPr>
        <p:spPr>
          <a:xfrm>
            <a:off x="5275356" y="1773936"/>
            <a:ext cx="2116470" cy="1389888"/>
          </a:xfrm>
          <a:prstGeom prst="rect">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21660" y="1920240"/>
            <a:ext cx="1823862"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2E4A8F"/>
                </a:solidFill>
                <a:latin typeface="Consolas"/>
              </a:rPr>
              <a:t>03</a:t>
            </a:r>
          </a:p>
        </p:txBody>
      </p:sp>
      <p:sp>
        <p:nvSpPr>
          <p:cNvPr id="21" name="TextBox 20"/>
          <p:cNvSpPr txBox="1"/>
          <p:nvPr/>
        </p:nvSpPr>
        <p:spPr>
          <a:xfrm>
            <a:off x="5421660" y="2139696"/>
            <a:ext cx="1823862" cy="256032"/>
          </a:xfrm>
          <a:prstGeom prst="rect">
            <a:avLst/>
          </a:prstGeom>
          <a:noFill/>
        </p:spPr>
        <p:txBody>
          <a:bodyPr wrap="square" anchor="t" lIns="0" rIns="0" tIns="0" bIns="0">
            <a:spAutoFit/>
          </a:bodyPr>
          <a:lstStyle/>
          <a:p>
            <a:pPr algn="l">
              <a:lnSpc>
                <a:spcPct val="128000"/>
              </a:lnSpc>
              <a:spcBef>
                <a:spcPts val="0"/>
              </a:spcBef>
              <a:spcAft>
                <a:spcPts val="0"/>
              </a:spcAft>
            </a:pPr>
            <a:r>
              <a:rPr sz="1500" b="1" i="0">
                <a:solidFill>
                  <a:srgbClr val="161A22"/>
                </a:solidFill>
                <a:latin typeface="Georgia"/>
              </a:rPr>
              <a:t>Analyzer</a:t>
            </a:r>
          </a:p>
        </p:txBody>
      </p:sp>
      <p:sp>
        <p:nvSpPr>
          <p:cNvPr id="22" name="TextBox 21"/>
          <p:cNvSpPr txBox="1"/>
          <p:nvPr/>
        </p:nvSpPr>
        <p:spPr>
          <a:xfrm>
            <a:off x="5421660" y="2432304"/>
            <a:ext cx="1823862" cy="64008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27B8C"/>
                </a:solidFill>
                <a:latin typeface="Calibri"/>
              </a:rPr>
              <a:t>Extracts load-bearing claims, surfaces contradictions between sources.</a:t>
            </a:r>
          </a:p>
        </p:txBody>
      </p:sp>
      <p:sp>
        <p:nvSpPr>
          <p:cNvPr id="23" name="Rectangle 22"/>
          <p:cNvSpPr/>
          <p:nvPr/>
        </p:nvSpPr>
        <p:spPr>
          <a:xfrm>
            <a:off x="7391826" y="1773936"/>
            <a:ext cx="2116470" cy="1389888"/>
          </a:xfrm>
          <a:prstGeom prst="rect">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38130" y="1920240"/>
            <a:ext cx="1823862"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2E4A8F"/>
                </a:solidFill>
                <a:latin typeface="Consolas"/>
              </a:rPr>
              <a:t>04</a:t>
            </a:r>
          </a:p>
        </p:txBody>
      </p:sp>
      <p:sp>
        <p:nvSpPr>
          <p:cNvPr id="25" name="TextBox 24"/>
          <p:cNvSpPr txBox="1"/>
          <p:nvPr/>
        </p:nvSpPr>
        <p:spPr>
          <a:xfrm>
            <a:off x="7538130" y="2139696"/>
            <a:ext cx="1823862" cy="256032"/>
          </a:xfrm>
          <a:prstGeom prst="rect">
            <a:avLst/>
          </a:prstGeom>
          <a:noFill/>
        </p:spPr>
        <p:txBody>
          <a:bodyPr wrap="square" anchor="t" lIns="0" rIns="0" tIns="0" bIns="0">
            <a:spAutoFit/>
          </a:bodyPr>
          <a:lstStyle/>
          <a:p>
            <a:pPr algn="l">
              <a:lnSpc>
                <a:spcPct val="128000"/>
              </a:lnSpc>
              <a:spcBef>
                <a:spcPts val="0"/>
              </a:spcBef>
              <a:spcAft>
                <a:spcPts val="0"/>
              </a:spcAft>
            </a:pPr>
            <a:r>
              <a:rPr sz="1500" b="1" i="0">
                <a:solidFill>
                  <a:srgbClr val="161A22"/>
                </a:solidFill>
                <a:latin typeface="Georgia"/>
              </a:rPr>
              <a:t>Insight</a:t>
            </a:r>
          </a:p>
        </p:txBody>
      </p:sp>
      <p:sp>
        <p:nvSpPr>
          <p:cNvPr id="26" name="TextBox 25"/>
          <p:cNvSpPr txBox="1"/>
          <p:nvPr/>
        </p:nvSpPr>
        <p:spPr>
          <a:xfrm>
            <a:off x="7538130" y="2432304"/>
            <a:ext cx="1823862" cy="64008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27B8C"/>
                </a:solidFill>
                <a:latin typeface="Calibri"/>
              </a:rPr>
              <a:t>Turns claims into hypotheses and trend chains with reasoning steps.</a:t>
            </a:r>
          </a:p>
        </p:txBody>
      </p:sp>
      <p:sp>
        <p:nvSpPr>
          <p:cNvPr id="27" name="Rectangle 26"/>
          <p:cNvSpPr/>
          <p:nvPr/>
        </p:nvSpPr>
        <p:spPr>
          <a:xfrm>
            <a:off x="9508296" y="1773936"/>
            <a:ext cx="2116470" cy="1389888"/>
          </a:xfrm>
          <a:prstGeom prst="rect">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54600" y="1920240"/>
            <a:ext cx="1823862"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2E4A8F"/>
                </a:solidFill>
                <a:latin typeface="Consolas"/>
              </a:rPr>
              <a:t>05</a:t>
            </a:r>
          </a:p>
        </p:txBody>
      </p:sp>
      <p:sp>
        <p:nvSpPr>
          <p:cNvPr id="29" name="TextBox 28"/>
          <p:cNvSpPr txBox="1"/>
          <p:nvPr/>
        </p:nvSpPr>
        <p:spPr>
          <a:xfrm>
            <a:off x="9654600" y="2139696"/>
            <a:ext cx="1823862" cy="256032"/>
          </a:xfrm>
          <a:prstGeom prst="rect">
            <a:avLst/>
          </a:prstGeom>
          <a:noFill/>
        </p:spPr>
        <p:txBody>
          <a:bodyPr wrap="square" anchor="t" lIns="0" rIns="0" tIns="0" bIns="0">
            <a:spAutoFit/>
          </a:bodyPr>
          <a:lstStyle/>
          <a:p>
            <a:pPr algn="l">
              <a:lnSpc>
                <a:spcPct val="128000"/>
              </a:lnSpc>
              <a:spcBef>
                <a:spcPts val="0"/>
              </a:spcBef>
              <a:spcAft>
                <a:spcPts val="0"/>
              </a:spcAft>
            </a:pPr>
            <a:r>
              <a:rPr sz="1500" b="1" i="0">
                <a:solidFill>
                  <a:srgbClr val="161A22"/>
                </a:solidFill>
                <a:latin typeface="Georgia"/>
              </a:rPr>
              <a:t>Report</a:t>
            </a:r>
          </a:p>
        </p:txBody>
      </p:sp>
      <p:sp>
        <p:nvSpPr>
          <p:cNvPr id="30" name="TextBox 29"/>
          <p:cNvSpPr txBox="1"/>
          <p:nvPr/>
        </p:nvSpPr>
        <p:spPr>
          <a:xfrm>
            <a:off x="9654600" y="2432304"/>
            <a:ext cx="1823862" cy="640080"/>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727B8C"/>
                </a:solidFill>
                <a:latin typeface="Calibri"/>
              </a:rPr>
              <a:t>Compiles the cited markdown report from analysis + sources only.</a:t>
            </a:r>
          </a:p>
        </p:txBody>
      </p:sp>
      <p:sp>
        <p:nvSpPr>
          <p:cNvPr id="31" name="Rectangle 30"/>
          <p:cNvSpPr/>
          <p:nvPr/>
        </p:nvSpPr>
        <p:spPr>
          <a:xfrm>
            <a:off x="1042416" y="3515868"/>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25296" y="3419856"/>
            <a:ext cx="4888839" cy="365760"/>
          </a:xfrm>
          <a:prstGeom prst="rect">
            <a:avLst/>
          </a:prstGeom>
          <a:noFill/>
        </p:spPr>
        <p:txBody>
          <a:bodyPr wrap="square" anchor="t" lIns="0" rIns="0" tIns="0" bIns="0">
            <a:spAutoFit/>
          </a:bodyPr>
          <a:lstStyle/>
          <a:p>
            <a:pPr>
              <a:lnSpc>
                <a:spcPct val="134000"/>
              </a:lnSpc>
              <a:spcAft>
                <a:spcPts val="0"/>
              </a:spcAft>
            </a:pPr>
            <a:r>
              <a:rPr sz="1250" b="1" i="0">
                <a:solidFill>
                  <a:srgbClr val="161A22"/>
                </a:solidFill>
                <a:latin typeface="Calibri"/>
              </a:rPr>
              <a:t>Why a graph, not one prompt: </a:t>
            </a:r>
            <a:r>
              <a:rPr sz="1250" b="0" i="0">
                <a:solidFill>
                  <a:srgbClr val="464E5E"/>
                </a:solidFill>
                <a:latin typeface="Calibri"/>
              </a:rPr>
              <a:t>retrieval, scoring, and writing have different temperatures, different failure modes, and different right-sized models.</a:t>
            </a:r>
          </a:p>
        </p:txBody>
      </p:sp>
      <p:sp>
        <p:nvSpPr>
          <p:cNvPr id="33" name="Rectangle 32"/>
          <p:cNvSpPr/>
          <p:nvPr/>
        </p:nvSpPr>
        <p:spPr>
          <a:xfrm>
            <a:off x="1042416" y="4320540"/>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25296" y="4224528"/>
            <a:ext cx="4888839" cy="365760"/>
          </a:xfrm>
          <a:prstGeom prst="rect">
            <a:avLst/>
          </a:prstGeom>
          <a:noFill/>
        </p:spPr>
        <p:txBody>
          <a:bodyPr wrap="square" anchor="t" lIns="0" rIns="0" tIns="0" bIns="0">
            <a:spAutoFit/>
          </a:bodyPr>
          <a:lstStyle/>
          <a:p>
            <a:pPr>
              <a:lnSpc>
                <a:spcPct val="134000"/>
              </a:lnSpc>
              <a:spcAft>
                <a:spcPts val="0"/>
              </a:spcAft>
            </a:pPr>
            <a:r>
              <a:rPr sz="1250" b="1" i="0">
                <a:solidFill>
                  <a:srgbClr val="161A22"/>
                </a:solidFill>
                <a:latin typeface="Calibri"/>
              </a:rPr>
              <a:t>Credibility scoring runs beside the analyzer </a:t>
            </a:r>
            <a:r>
              <a:rPr sz="1250" b="0" i="0">
                <a:solidFill>
                  <a:srgbClr val="464E5E"/>
                </a:solidFill>
                <a:latin typeface="Calibri"/>
              </a:rPr>
              <a:t>on its own model slot, so one provider's quota can't starve both.</a:t>
            </a:r>
          </a:p>
        </p:txBody>
      </p:sp>
      <p:sp>
        <p:nvSpPr>
          <p:cNvPr id="35" name="Rectangle 34"/>
          <p:cNvSpPr/>
          <p:nvPr/>
        </p:nvSpPr>
        <p:spPr>
          <a:xfrm>
            <a:off x="6479895" y="3515868"/>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62775" y="3419856"/>
            <a:ext cx="4888839" cy="365760"/>
          </a:xfrm>
          <a:prstGeom prst="rect">
            <a:avLst/>
          </a:prstGeom>
          <a:noFill/>
        </p:spPr>
        <p:txBody>
          <a:bodyPr wrap="square" anchor="t" lIns="0" rIns="0" tIns="0" bIns="0">
            <a:spAutoFit/>
          </a:bodyPr>
          <a:lstStyle/>
          <a:p>
            <a:pPr>
              <a:lnSpc>
                <a:spcPct val="134000"/>
              </a:lnSpc>
              <a:spcAft>
                <a:spcPts val="0"/>
              </a:spcAft>
            </a:pPr>
            <a:r>
              <a:rPr sz="1250" b="1" i="0">
                <a:solidFill>
                  <a:srgbClr val="161A22"/>
                </a:solidFill>
                <a:latin typeface="Calibri"/>
              </a:rPr>
              <a:t>Shared state object </a:t>
            </a:r>
            <a:r>
              <a:rPr sz="1250" b="0" i="0">
                <a:solidFill>
                  <a:srgbClr val="464E5E"/>
                </a:solidFill>
                <a:latin typeface="Calibri"/>
              </a:rPr>
              <a:t>flows through the graph; each node reads what it needs and appends its own output.</a:t>
            </a:r>
          </a:p>
        </p:txBody>
      </p:sp>
      <p:sp>
        <p:nvSpPr>
          <p:cNvPr id="37" name="Rectangle 36"/>
          <p:cNvSpPr/>
          <p:nvPr/>
        </p:nvSpPr>
        <p:spPr>
          <a:xfrm>
            <a:off x="6479895" y="4082796"/>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62775" y="3986784"/>
            <a:ext cx="4888839" cy="365760"/>
          </a:xfrm>
          <a:prstGeom prst="rect">
            <a:avLst/>
          </a:prstGeom>
          <a:noFill/>
        </p:spPr>
        <p:txBody>
          <a:bodyPr wrap="square" anchor="t" lIns="0" rIns="0" tIns="0" bIns="0">
            <a:spAutoFit/>
          </a:bodyPr>
          <a:lstStyle/>
          <a:p>
            <a:pPr>
              <a:lnSpc>
                <a:spcPct val="134000"/>
              </a:lnSpc>
              <a:spcAft>
                <a:spcPts val="0"/>
              </a:spcAft>
            </a:pPr>
            <a:r>
              <a:rPr sz="1250" b="1" i="0">
                <a:solidFill>
                  <a:srgbClr val="161A22"/>
                </a:solidFill>
                <a:latin typeface="Calibri"/>
              </a:rPr>
              <a:t>Refuse-on-empty: </a:t>
            </a:r>
            <a:r>
              <a:rPr sz="1250" b="0" i="0">
                <a:solidFill>
                  <a:srgbClr val="464E5E"/>
                </a:solidFill>
                <a:latin typeface="Calibri"/>
              </a:rPr>
              <a:t>analyzer, insight and reporter short-circuit when handed zero sources instead of writing from priors.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04</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DATA</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DATASET</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No fine-tuning. Live retrieval, per query.</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73936"/>
            <a:ext cx="9100822" cy="640080"/>
          </a:xfrm>
          <a:prstGeom prst="rect">
            <a:avLst/>
          </a:prstGeom>
          <a:noFill/>
        </p:spPr>
        <p:txBody>
          <a:bodyPr wrap="square" anchor="t" lIns="0" rIns="0" tIns="0" bIns="0">
            <a:spAutoFit/>
          </a:bodyPr>
          <a:lstStyle/>
          <a:p>
            <a:pPr algn="l">
              <a:lnSpc>
                <a:spcPct val="138000"/>
              </a:lnSpc>
              <a:spcBef>
                <a:spcPts val="0"/>
              </a:spcBef>
              <a:spcAft>
                <a:spcPts val="0"/>
              </a:spcAft>
            </a:pPr>
            <a:r>
              <a:rPr sz="1350" b="0" i="0">
                <a:solidFill>
                  <a:srgbClr val="464E5E"/>
                </a:solidFill>
                <a:latin typeface="Calibri"/>
              </a:rPr>
              <a:t>There is no training corpus. The "dataset" is assembled fresh for every question, which is what makes citations checkable — and what makes the grounding metric meaningful.</a:t>
            </a:r>
          </a:p>
        </p:txBody>
      </p:sp>
      <p:sp>
        <p:nvSpPr>
          <p:cNvPr id="12" name="TextBox 11"/>
          <p:cNvSpPr txBox="1"/>
          <p:nvPr/>
        </p:nvSpPr>
        <p:spPr>
          <a:xfrm>
            <a:off x="1042416" y="2651760"/>
            <a:ext cx="1247689"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CHANNEL</a:t>
            </a:r>
          </a:p>
        </p:txBody>
      </p:sp>
      <p:sp>
        <p:nvSpPr>
          <p:cNvPr id="13" name="TextBox 12"/>
          <p:cNvSpPr txBox="1"/>
          <p:nvPr/>
        </p:nvSpPr>
        <p:spPr>
          <a:xfrm>
            <a:off x="2418121" y="2651760"/>
            <a:ext cx="3258336"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PROVIDER</a:t>
            </a:r>
          </a:p>
        </p:txBody>
      </p:sp>
      <p:sp>
        <p:nvSpPr>
          <p:cNvPr id="14" name="TextBox 13"/>
          <p:cNvSpPr txBox="1"/>
          <p:nvPr/>
        </p:nvSpPr>
        <p:spPr>
          <a:xfrm>
            <a:off x="5804474" y="2651760"/>
            <a:ext cx="4316571"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ROLE</a:t>
            </a:r>
          </a:p>
        </p:txBody>
      </p:sp>
      <p:sp>
        <p:nvSpPr>
          <p:cNvPr id="15" name="TextBox 14"/>
          <p:cNvSpPr txBox="1"/>
          <p:nvPr/>
        </p:nvSpPr>
        <p:spPr>
          <a:xfrm>
            <a:off x="10249061" y="2651760"/>
            <a:ext cx="1247689" cy="201168"/>
          </a:xfrm>
          <a:prstGeom prst="rect">
            <a:avLst/>
          </a:prstGeom>
          <a:noFill/>
        </p:spPr>
        <p:txBody>
          <a:bodyPr wrap="square" anchor="t" lIns="0" rIns="0" tIns="0" bIns="0">
            <a:spAutoFit/>
          </a:bodyPr>
          <a:lstStyle/>
          <a:p>
            <a:pPr algn="r">
              <a:lnSpc>
                <a:spcPct val="128000"/>
              </a:lnSpc>
              <a:spcBef>
                <a:spcPts val="0"/>
              </a:spcBef>
              <a:spcAft>
                <a:spcPts val="0"/>
              </a:spcAft>
            </a:pPr>
            <a:r>
              <a:rPr sz="950" b="0" i="0" spc="160">
                <a:solidFill>
                  <a:srgbClr val="727B8C"/>
                </a:solidFill>
                <a:latin typeface="Consolas"/>
              </a:rPr>
              <a:t>PER REPORT</a:t>
            </a:r>
          </a:p>
        </p:txBody>
      </p:sp>
      <p:sp>
        <p:nvSpPr>
          <p:cNvPr id="16" name="Rectangle 15"/>
          <p:cNvSpPr/>
          <p:nvPr/>
        </p:nvSpPr>
        <p:spPr>
          <a:xfrm>
            <a:off x="1042416" y="2944368"/>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3063239"/>
            <a:ext cx="1247689"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Web</a:t>
            </a:r>
          </a:p>
        </p:txBody>
      </p:sp>
      <p:sp>
        <p:nvSpPr>
          <p:cNvPr id="18" name="TextBox 17"/>
          <p:cNvSpPr txBox="1"/>
          <p:nvPr/>
        </p:nvSpPr>
        <p:spPr>
          <a:xfrm>
            <a:off x="2418121" y="3063239"/>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Tavily (primary), Perplexity (fallback)</a:t>
            </a:r>
          </a:p>
        </p:txBody>
      </p:sp>
      <p:sp>
        <p:nvSpPr>
          <p:cNvPr id="19" name="TextBox 18"/>
          <p:cNvSpPr txBox="1"/>
          <p:nvPr/>
        </p:nvSpPr>
        <p:spPr>
          <a:xfrm>
            <a:off x="5804474" y="3063239"/>
            <a:ext cx="431657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Market, competitive and funding coverage</a:t>
            </a:r>
          </a:p>
        </p:txBody>
      </p:sp>
      <p:sp>
        <p:nvSpPr>
          <p:cNvPr id="20" name="TextBox 19"/>
          <p:cNvSpPr txBox="1"/>
          <p:nvPr/>
        </p:nvSpPr>
        <p:spPr>
          <a:xfrm>
            <a:off x="10249061" y="3063239"/>
            <a:ext cx="124768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6</a:t>
            </a:r>
          </a:p>
        </p:txBody>
      </p:sp>
      <p:sp>
        <p:nvSpPr>
          <p:cNvPr id="21" name="Rectangle 20"/>
          <p:cNvSpPr/>
          <p:nvPr/>
        </p:nvSpPr>
        <p:spPr>
          <a:xfrm>
            <a:off x="1042416" y="352043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2416" y="3611879"/>
            <a:ext cx="1247689"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Papers</a:t>
            </a:r>
          </a:p>
        </p:txBody>
      </p:sp>
      <p:sp>
        <p:nvSpPr>
          <p:cNvPr id="23" name="TextBox 22"/>
          <p:cNvSpPr txBox="1"/>
          <p:nvPr/>
        </p:nvSpPr>
        <p:spPr>
          <a:xfrm>
            <a:off x="2418121" y="3611879"/>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arXiv, via the arxiv SDK directly</a:t>
            </a:r>
          </a:p>
        </p:txBody>
      </p:sp>
      <p:sp>
        <p:nvSpPr>
          <p:cNvPr id="24" name="TextBox 23"/>
          <p:cNvSpPr txBox="1"/>
          <p:nvPr/>
        </p:nvSpPr>
        <p:spPr>
          <a:xfrm>
            <a:off x="5804474" y="3611879"/>
            <a:ext cx="431657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Technical and methodological questions</a:t>
            </a:r>
          </a:p>
        </p:txBody>
      </p:sp>
      <p:sp>
        <p:nvSpPr>
          <p:cNvPr id="25" name="TextBox 24"/>
          <p:cNvSpPr txBox="1"/>
          <p:nvPr/>
        </p:nvSpPr>
        <p:spPr>
          <a:xfrm>
            <a:off x="10249061" y="3611879"/>
            <a:ext cx="124768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5</a:t>
            </a:r>
          </a:p>
        </p:txBody>
      </p:sp>
      <p:sp>
        <p:nvSpPr>
          <p:cNvPr id="26" name="Rectangle 25"/>
          <p:cNvSpPr/>
          <p:nvPr/>
        </p:nvSpPr>
        <p:spPr>
          <a:xfrm>
            <a:off x="1042416" y="388620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2416" y="3977639"/>
            <a:ext cx="1247689"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News</a:t>
            </a:r>
          </a:p>
        </p:txBody>
      </p:sp>
      <p:sp>
        <p:nvSpPr>
          <p:cNvPr id="28" name="TextBox 27"/>
          <p:cNvSpPr txBox="1"/>
          <p:nvPr/>
        </p:nvSpPr>
        <p:spPr>
          <a:xfrm>
            <a:off x="2418121" y="3977639"/>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News search</a:t>
            </a:r>
          </a:p>
        </p:txBody>
      </p:sp>
      <p:sp>
        <p:nvSpPr>
          <p:cNvPr id="29" name="TextBox 28"/>
          <p:cNvSpPr txBox="1"/>
          <p:nvPr/>
        </p:nvSpPr>
        <p:spPr>
          <a:xfrm>
            <a:off x="5804474" y="3977639"/>
            <a:ext cx="431657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Recency: funding rounds, regulation</a:t>
            </a:r>
          </a:p>
        </p:txBody>
      </p:sp>
      <p:sp>
        <p:nvSpPr>
          <p:cNvPr id="30" name="TextBox 29"/>
          <p:cNvSpPr txBox="1"/>
          <p:nvPr/>
        </p:nvSpPr>
        <p:spPr>
          <a:xfrm>
            <a:off x="10249061" y="3977639"/>
            <a:ext cx="124768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6</a:t>
            </a:r>
          </a:p>
        </p:txBody>
      </p:sp>
      <p:sp>
        <p:nvSpPr>
          <p:cNvPr id="31" name="Rectangle 30"/>
          <p:cNvSpPr/>
          <p:nvPr/>
        </p:nvSpPr>
        <p:spPr>
          <a:xfrm>
            <a:off x="1042416" y="425196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416" y="4658868"/>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25296" y="4562856"/>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Retrieved URLs are normalized and kept in state — </a:t>
            </a:r>
            <a:r>
              <a:rPr sz="1300" b="0" i="0">
                <a:solidFill>
                  <a:srgbClr val="464E5E"/>
                </a:solidFill>
                <a:latin typeface="Calibri"/>
              </a:rPr>
              <a:t>they are the ground truth the citation check scores against.</a:t>
            </a:r>
          </a:p>
        </p:txBody>
      </p:sp>
      <p:sp>
        <p:nvSpPr>
          <p:cNvPr id="34" name="Rectangle 33"/>
          <p:cNvSpPr/>
          <p:nvPr/>
        </p:nvSpPr>
        <p:spPr>
          <a:xfrm>
            <a:off x="1042416" y="4988052"/>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25296" y="4892040"/>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The arXiv channel returned zero for a while: </a:t>
            </a:r>
            <a:r>
              <a:rPr sz="1300" b="0" i="0">
                <a:solidFill>
                  <a:srgbClr val="464E5E"/>
                </a:solidFill>
                <a:latin typeface="Calibri"/>
              </a:rPr>
              <a:t>LangChain's wrapper calls Search.results(), removed in arxiv 2.2+. Calling the SDK directly fixed it and yielded real URLs.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05</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ROUTING</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CUSTOMIZATION · MODEL ROUTING</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Smallest capable model per stage — at zero cost</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828800"/>
            <a:ext cx="1459336"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STAGE</a:t>
            </a:r>
          </a:p>
        </p:txBody>
      </p:sp>
      <p:sp>
        <p:nvSpPr>
          <p:cNvPr id="12" name="TextBox 11"/>
          <p:cNvSpPr txBox="1"/>
          <p:nvPr/>
        </p:nvSpPr>
        <p:spPr>
          <a:xfrm>
            <a:off x="2629768" y="1828800"/>
            <a:ext cx="3258336"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MODEL</a:t>
            </a:r>
          </a:p>
        </p:txBody>
      </p:sp>
      <p:sp>
        <p:nvSpPr>
          <p:cNvPr id="13" name="TextBox 12"/>
          <p:cNvSpPr txBox="1"/>
          <p:nvPr/>
        </p:nvSpPr>
        <p:spPr>
          <a:xfrm>
            <a:off x="6016121" y="1828800"/>
            <a:ext cx="930219" cy="201168"/>
          </a:xfrm>
          <a:prstGeom prst="rect">
            <a:avLst/>
          </a:prstGeom>
          <a:noFill/>
        </p:spPr>
        <p:txBody>
          <a:bodyPr wrap="square" anchor="t" lIns="0" rIns="0" tIns="0" bIns="0">
            <a:spAutoFit/>
          </a:bodyPr>
          <a:lstStyle/>
          <a:p>
            <a:pPr algn="r">
              <a:lnSpc>
                <a:spcPct val="128000"/>
              </a:lnSpc>
              <a:spcBef>
                <a:spcPts val="0"/>
              </a:spcBef>
              <a:spcAft>
                <a:spcPts val="0"/>
              </a:spcAft>
            </a:pPr>
            <a:r>
              <a:rPr sz="950" b="0" i="0" spc="160">
                <a:solidFill>
                  <a:srgbClr val="727B8C"/>
                </a:solidFill>
                <a:latin typeface="Consolas"/>
              </a:rPr>
              <a:t>TEMP</a:t>
            </a:r>
          </a:p>
        </p:txBody>
      </p:sp>
      <p:sp>
        <p:nvSpPr>
          <p:cNvPr id="14" name="TextBox 13"/>
          <p:cNvSpPr txBox="1"/>
          <p:nvPr/>
        </p:nvSpPr>
        <p:spPr>
          <a:xfrm>
            <a:off x="7074356" y="1828800"/>
            <a:ext cx="4422395"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WHY THIS ONE</a:t>
            </a:r>
          </a:p>
        </p:txBody>
      </p:sp>
      <p:sp>
        <p:nvSpPr>
          <p:cNvPr id="15" name="Rectangle 14"/>
          <p:cNvSpPr/>
          <p:nvPr/>
        </p:nvSpPr>
        <p:spPr>
          <a:xfrm>
            <a:off x="1042416" y="2121408"/>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2240279"/>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Retriever</a:t>
            </a:r>
          </a:p>
        </p:txBody>
      </p:sp>
      <p:sp>
        <p:nvSpPr>
          <p:cNvPr id="17" name="TextBox 16"/>
          <p:cNvSpPr txBox="1"/>
          <p:nvPr/>
        </p:nvSpPr>
        <p:spPr>
          <a:xfrm>
            <a:off x="2629768" y="2240279"/>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464E5E"/>
                </a:solidFill>
                <a:latin typeface="Consolas"/>
              </a:rPr>
              <a:t>groq/llama-3.3-70b-versatile</a:t>
            </a:r>
          </a:p>
        </p:txBody>
      </p:sp>
      <p:sp>
        <p:nvSpPr>
          <p:cNvPr id="18" name="TextBox 17"/>
          <p:cNvSpPr txBox="1"/>
          <p:nvPr/>
        </p:nvSpPr>
        <p:spPr>
          <a:xfrm>
            <a:off x="6016121" y="2240279"/>
            <a:ext cx="93021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0.1</a:t>
            </a:r>
          </a:p>
        </p:txBody>
      </p:sp>
      <p:sp>
        <p:nvSpPr>
          <p:cNvPr id="19" name="TextBox 18"/>
          <p:cNvSpPr txBox="1"/>
          <p:nvPr/>
        </p:nvSpPr>
        <p:spPr>
          <a:xfrm>
            <a:off x="7074356" y="2240279"/>
            <a:ext cx="442239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Fast, deterministic query shaping</a:t>
            </a:r>
          </a:p>
        </p:txBody>
      </p:sp>
      <p:sp>
        <p:nvSpPr>
          <p:cNvPr id="20" name="Rectangle 19"/>
          <p:cNvSpPr/>
          <p:nvPr/>
        </p:nvSpPr>
        <p:spPr>
          <a:xfrm>
            <a:off x="1042416" y="2496311"/>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2587751"/>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Analyzer</a:t>
            </a:r>
          </a:p>
        </p:txBody>
      </p:sp>
      <p:sp>
        <p:nvSpPr>
          <p:cNvPr id="22" name="TextBox 21"/>
          <p:cNvSpPr txBox="1"/>
          <p:nvPr/>
        </p:nvSpPr>
        <p:spPr>
          <a:xfrm>
            <a:off x="2629768" y="2587751"/>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464E5E"/>
                </a:solidFill>
                <a:latin typeface="Consolas"/>
              </a:rPr>
              <a:t>google/gemini-flash-latest</a:t>
            </a:r>
          </a:p>
        </p:txBody>
      </p:sp>
      <p:sp>
        <p:nvSpPr>
          <p:cNvPr id="23" name="TextBox 22"/>
          <p:cNvSpPr txBox="1"/>
          <p:nvPr/>
        </p:nvSpPr>
        <p:spPr>
          <a:xfrm>
            <a:off x="6016121" y="2587751"/>
            <a:ext cx="93021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0.5</a:t>
            </a:r>
          </a:p>
        </p:txBody>
      </p:sp>
      <p:sp>
        <p:nvSpPr>
          <p:cNvPr id="24" name="TextBox 23"/>
          <p:cNvSpPr txBox="1"/>
          <p:nvPr/>
        </p:nvSpPr>
        <p:spPr>
          <a:xfrm>
            <a:off x="7074356" y="2587751"/>
            <a:ext cx="442239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Long context over 17 sources</a:t>
            </a:r>
          </a:p>
        </p:txBody>
      </p:sp>
      <p:sp>
        <p:nvSpPr>
          <p:cNvPr id="25" name="Rectangle 24"/>
          <p:cNvSpPr/>
          <p:nvPr/>
        </p:nvSpPr>
        <p:spPr>
          <a:xfrm>
            <a:off x="1042416" y="2843783"/>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935223"/>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Credibility</a:t>
            </a:r>
          </a:p>
        </p:txBody>
      </p:sp>
      <p:sp>
        <p:nvSpPr>
          <p:cNvPr id="27" name="TextBox 26"/>
          <p:cNvSpPr txBox="1"/>
          <p:nvPr/>
        </p:nvSpPr>
        <p:spPr>
          <a:xfrm>
            <a:off x="2629768" y="2935223"/>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464E5E"/>
                </a:solidFill>
                <a:latin typeface="Consolas"/>
              </a:rPr>
              <a:t>groq/llama-3.3-70b-versatile</a:t>
            </a:r>
          </a:p>
        </p:txBody>
      </p:sp>
      <p:sp>
        <p:nvSpPr>
          <p:cNvPr id="28" name="TextBox 27"/>
          <p:cNvSpPr txBox="1"/>
          <p:nvPr/>
        </p:nvSpPr>
        <p:spPr>
          <a:xfrm>
            <a:off x="6016121" y="2935223"/>
            <a:ext cx="93021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0.1</a:t>
            </a:r>
          </a:p>
        </p:txBody>
      </p:sp>
      <p:sp>
        <p:nvSpPr>
          <p:cNvPr id="29" name="TextBox 28"/>
          <p:cNvSpPr txBox="1"/>
          <p:nvPr/>
        </p:nvSpPr>
        <p:spPr>
          <a:xfrm>
            <a:off x="7074356" y="2935223"/>
            <a:ext cx="442239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Short 0–1 rating; own slot, own quota</a:t>
            </a:r>
          </a:p>
        </p:txBody>
      </p:sp>
      <p:sp>
        <p:nvSpPr>
          <p:cNvPr id="30" name="Rectangle 29"/>
          <p:cNvSpPr/>
          <p:nvPr/>
        </p:nvSpPr>
        <p:spPr>
          <a:xfrm>
            <a:off x="1042416" y="3191255"/>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6" y="3282695"/>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Insight</a:t>
            </a:r>
          </a:p>
        </p:txBody>
      </p:sp>
      <p:sp>
        <p:nvSpPr>
          <p:cNvPr id="32" name="TextBox 31"/>
          <p:cNvSpPr txBox="1"/>
          <p:nvPr/>
        </p:nvSpPr>
        <p:spPr>
          <a:xfrm>
            <a:off x="2629768" y="3282695"/>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464E5E"/>
                </a:solidFill>
                <a:latin typeface="Consolas"/>
              </a:rPr>
              <a:t>google/gemini-flash-latest</a:t>
            </a:r>
          </a:p>
        </p:txBody>
      </p:sp>
      <p:sp>
        <p:nvSpPr>
          <p:cNvPr id="33" name="TextBox 32"/>
          <p:cNvSpPr txBox="1"/>
          <p:nvPr/>
        </p:nvSpPr>
        <p:spPr>
          <a:xfrm>
            <a:off x="6016121" y="3282695"/>
            <a:ext cx="93021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0.7</a:t>
            </a:r>
          </a:p>
        </p:txBody>
      </p:sp>
      <p:sp>
        <p:nvSpPr>
          <p:cNvPr id="34" name="TextBox 33"/>
          <p:cNvSpPr txBox="1"/>
          <p:nvPr/>
        </p:nvSpPr>
        <p:spPr>
          <a:xfrm>
            <a:off x="7074356" y="3282695"/>
            <a:ext cx="442239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Hypotheses need room to diverge</a:t>
            </a:r>
          </a:p>
        </p:txBody>
      </p:sp>
      <p:sp>
        <p:nvSpPr>
          <p:cNvPr id="35" name="Rectangle 34"/>
          <p:cNvSpPr/>
          <p:nvPr/>
        </p:nvSpPr>
        <p:spPr>
          <a:xfrm>
            <a:off x="1042416" y="3538727"/>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2416" y="3630167"/>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Report</a:t>
            </a:r>
          </a:p>
        </p:txBody>
      </p:sp>
      <p:sp>
        <p:nvSpPr>
          <p:cNvPr id="37" name="TextBox 36"/>
          <p:cNvSpPr txBox="1"/>
          <p:nvPr/>
        </p:nvSpPr>
        <p:spPr>
          <a:xfrm>
            <a:off x="2629768" y="3630167"/>
            <a:ext cx="3258336"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464E5E"/>
                </a:solidFill>
                <a:latin typeface="Consolas"/>
              </a:rPr>
              <a:t>google/gemini-flash-latest</a:t>
            </a:r>
          </a:p>
        </p:txBody>
      </p:sp>
      <p:sp>
        <p:nvSpPr>
          <p:cNvPr id="38" name="TextBox 37"/>
          <p:cNvSpPr txBox="1"/>
          <p:nvPr/>
        </p:nvSpPr>
        <p:spPr>
          <a:xfrm>
            <a:off x="6016121" y="3630167"/>
            <a:ext cx="93021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0.2</a:t>
            </a:r>
          </a:p>
        </p:txBody>
      </p:sp>
      <p:sp>
        <p:nvSpPr>
          <p:cNvPr id="39" name="TextBox 38"/>
          <p:cNvSpPr txBox="1"/>
          <p:nvPr/>
        </p:nvSpPr>
        <p:spPr>
          <a:xfrm>
            <a:off x="7074356" y="3630167"/>
            <a:ext cx="442239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Consistent markdown, low invention</a:t>
            </a:r>
          </a:p>
        </p:txBody>
      </p:sp>
      <p:sp>
        <p:nvSpPr>
          <p:cNvPr id="40" name="Rectangle 39"/>
          <p:cNvSpPr/>
          <p:nvPr/>
        </p:nvSpPr>
        <p:spPr>
          <a:xfrm>
            <a:off x="1042416" y="388620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42416" y="4274820"/>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25296" y="4178807"/>
            <a:ext cx="4888839" cy="365760"/>
          </a:xfrm>
          <a:prstGeom prst="rect">
            <a:avLst/>
          </a:prstGeom>
          <a:noFill/>
        </p:spPr>
        <p:txBody>
          <a:bodyPr wrap="square" anchor="t" lIns="0" rIns="0" tIns="0" bIns="0">
            <a:spAutoFit/>
          </a:bodyPr>
          <a:lstStyle/>
          <a:p>
            <a:pPr>
              <a:lnSpc>
                <a:spcPct val="134000"/>
              </a:lnSpc>
              <a:spcAft>
                <a:spcPts val="0"/>
              </a:spcAft>
            </a:pPr>
            <a:r>
              <a:rPr sz="1250" b="1" i="0">
                <a:solidFill>
                  <a:srgbClr val="161A22"/>
                </a:solidFill>
                <a:latin typeface="Calibri"/>
              </a:rPr>
              <a:t>Failover: </a:t>
            </a:r>
            <a:r>
              <a:rPr sz="1250" b="0" i="0">
                <a:solidFill>
                  <a:srgbClr val="464E5E"/>
                </a:solidFill>
                <a:latin typeface="Calibri"/>
              </a:rPr>
              <a:t>every client is wrapped at invoke time with openai/gpt-oss-20b:free via OpenRouter.</a:t>
            </a:r>
          </a:p>
        </p:txBody>
      </p:sp>
      <p:sp>
        <p:nvSpPr>
          <p:cNvPr id="43" name="Rectangle 42"/>
          <p:cNvSpPr/>
          <p:nvPr/>
        </p:nvSpPr>
        <p:spPr>
          <a:xfrm>
            <a:off x="6479895" y="4274820"/>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62775" y="4178807"/>
            <a:ext cx="4888839" cy="365760"/>
          </a:xfrm>
          <a:prstGeom prst="rect">
            <a:avLst/>
          </a:prstGeom>
          <a:noFill/>
        </p:spPr>
        <p:txBody>
          <a:bodyPr wrap="square" anchor="t" lIns="0" rIns="0" tIns="0" bIns="0">
            <a:spAutoFit/>
          </a:bodyPr>
          <a:lstStyle/>
          <a:p>
            <a:pPr>
              <a:lnSpc>
                <a:spcPct val="134000"/>
              </a:lnSpc>
              <a:spcAft>
                <a:spcPts val="0"/>
              </a:spcAft>
            </a:pPr>
            <a:r>
              <a:rPr sz="1250" b="1" i="0">
                <a:solidFill>
                  <a:srgbClr val="161A22"/>
                </a:solidFill>
                <a:latin typeface="Calibri"/>
              </a:rPr>
              <a:t>Cost per run: $0. </a:t>
            </a:r>
            <a:r>
              <a:rPr sz="1250" b="0" i="0">
                <a:solidFill>
                  <a:srgbClr val="464E5E"/>
                </a:solidFill>
                <a:latin typeface="Calibri"/>
              </a:rPr>
              <a:t>Every default sits on a provider free tier. ANALYZER_MODEL points at Claude Sonnet when stronger reasoning is worth paying for.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06</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ENGINEERING</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IMPLEMENTATION DETAILS</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Four fixes that only surfaced under real load</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 y="1773936"/>
            <a:ext cx="5172303" cy="141732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5296" y="1929384"/>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2E4A8F"/>
                </a:solidFill>
                <a:latin typeface="Consolas"/>
              </a:rPr>
              <a:t>INVOKE-TIME FAILOVER</a:t>
            </a:r>
          </a:p>
        </p:txBody>
      </p:sp>
      <p:sp>
        <p:nvSpPr>
          <p:cNvPr id="13" name="TextBox 12"/>
          <p:cNvSpPr txBox="1"/>
          <p:nvPr/>
        </p:nvSpPr>
        <p:spPr>
          <a:xfrm>
            <a:off x="1225296" y="2194560"/>
            <a:ext cx="4806543" cy="85039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Construction-time fallbacks never fire: 429 and 402 surface on the call, not on client creation. Every client is wrapped with .with_fallbacks([...]) at invoke time.</a:t>
            </a:r>
          </a:p>
        </p:txBody>
      </p:sp>
      <p:sp>
        <p:nvSpPr>
          <p:cNvPr id="14" name="Rectangle 13"/>
          <p:cNvSpPr/>
          <p:nvPr/>
        </p:nvSpPr>
        <p:spPr>
          <a:xfrm>
            <a:off x="6452463" y="1773936"/>
            <a:ext cx="5172303" cy="141732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35343" y="1929384"/>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2E4A8F"/>
                </a:solidFill>
                <a:latin typeface="Consolas"/>
              </a:rPr>
              <a:t>TOKEN FLOOR</a:t>
            </a:r>
          </a:p>
        </p:txBody>
      </p:sp>
      <p:sp>
        <p:nvSpPr>
          <p:cNvPr id="16" name="TextBox 15"/>
          <p:cNvSpPr txBox="1"/>
          <p:nvPr/>
        </p:nvSpPr>
        <p:spPr>
          <a:xfrm>
            <a:off x="6635343" y="2194560"/>
            <a:ext cx="4806543" cy="85039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Gemini counts internal reasoning against max_output_tokens. At 2000 the reply truncated after the first section — 407 chars. GOOGLE_MIN_OUTPUT_TOKENS=8192 -&gt; 3331 chars, all sections present.</a:t>
            </a:r>
          </a:p>
        </p:txBody>
      </p:sp>
      <p:sp>
        <p:nvSpPr>
          <p:cNvPr id="17" name="Rectangle 16"/>
          <p:cNvSpPr/>
          <p:nvPr/>
        </p:nvSpPr>
        <p:spPr>
          <a:xfrm>
            <a:off x="1042416" y="3364991"/>
            <a:ext cx="5172303" cy="141732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6" y="3520439"/>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2E4A8F"/>
                </a:solidFill>
                <a:latin typeface="Consolas"/>
              </a:rPr>
              <a:t>PARSER HARDENING</a:t>
            </a:r>
          </a:p>
        </p:txBody>
      </p:sp>
      <p:sp>
        <p:nvSpPr>
          <p:cNvPr id="19" name="TextBox 18"/>
          <p:cNvSpPr txBox="1"/>
          <p:nvPr/>
        </p:nvSpPr>
        <p:spPr>
          <a:xfrm>
            <a:off x="1225296" y="3785615"/>
            <a:ext cx="4806543" cy="85039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The analysis parser demanded a literal SUMMARY:. Models emit **SUMMARY**, ## Summary, 1. — so it silently extracted zero claims. Now accepts all four styles, with unit tests.</a:t>
            </a:r>
          </a:p>
        </p:txBody>
      </p:sp>
      <p:sp>
        <p:nvSpPr>
          <p:cNvPr id="20" name="Rectangle 19"/>
          <p:cNvSpPr/>
          <p:nvPr/>
        </p:nvSpPr>
        <p:spPr>
          <a:xfrm>
            <a:off x="6452463" y="3364991"/>
            <a:ext cx="5172303" cy="141732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5343" y="3520439"/>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2E4A8F"/>
                </a:solidFill>
                <a:latin typeface="Consolas"/>
              </a:rPr>
              <a:t>DEGRADATION DETECTION</a:t>
            </a:r>
          </a:p>
        </p:txBody>
      </p:sp>
      <p:sp>
        <p:nvSpPr>
          <p:cNvPr id="22" name="TextBox 21"/>
          <p:cNvSpPr txBox="1"/>
          <p:nvPr/>
        </p:nvSpPr>
        <p:spPr>
          <a:xfrm>
            <a:off x="6635343" y="3785615"/>
            <a:ext cx="4806543" cy="85039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Every fallback is empty and attributable: [unavailable] &lt;stage&gt;: &lt;reason&gt;. utils/degraded.py names affected stages; the UI renders a banner above the report.</a:t>
            </a:r>
          </a:p>
        </p:txBody>
      </p:sp>
      <p:sp>
        <p:nvSpPr>
          <p:cNvPr id="23" name="TextBox 22"/>
          <p:cNvSpPr txBox="1"/>
          <p:nvPr/>
        </p:nvSpPr>
        <p:spPr>
          <a:xfrm>
            <a:off x="1042416" y="4956048"/>
            <a:ext cx="10582351" cy="292608"/>
          </a:xfrm>
          <a:prstGeom prst="rect">
            <a:avLst/>
          </a:prstGeom>
          <a:noFill/>
        </p:spPr>
        <p:txBody>
          <a:bodyPr wrap="square" anchor="t" lIns="0" rIns="0" tIns="0" bIns="0">
            <a:spAutoFit/>
          </a:bodyPr>
          <a:lstStyle/>
          <a:p>
            <a:pPr>
              <a:lnSpc>
                <a:spcPct val="132000"/>
              </a:lnSpc>
              <a:spcAft>
                <a:spcPts val="0"/>
              </a:spcAft>
            </a:pPr>
            <a:r>
              <a:rPr sz="1300" b="0" i="0">
                <a:solidFill>
                  <a:srgbClr val="464E5E"/>
                </a:solidFill>
                <a:latin typeface="Calibri"/>
              </a:rPr>
              <a:t>The connecting theme: </a:t>
            </a:r>
            <a:r>
              <a:rPr sz="1300" b="1" i="0">
                <a:solidFill>
                  <a:srgbClr val="161A22"/>
                </a:solidFill>
                <a:latin typeface="Calibri"/>
              </a:rPr>
              <a:t>silent failure was the recurring defect in this codebase</a:t>
            </a:r>
            <a:r>
              <a:rPr sz="1300" b="0" i="0">
                <a:solidFill>
                  <a:srgbClr val="464E5E"/>
                </a:solidFill>
                <a:latin typeface="Calibri"/>
              </a:rPr>
              <a:t> — every one of these returned HTTP 200 with a normal-looking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07</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DEPLOYMENT</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DEPLOYMENT</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Live, on two clouds, plus an IDE surface</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828800"/>
            <a:ext cx="1459336"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LAYER</a:t>
            </a:r>
          </a:p>
        </p:txBody>
      </p:sp>
      <p:sp>
        <p:nvSpPr>
          <p:cNvPr id="12" name="TextBox 11"/>
          <p:cNvSpPr txBox="1"/>
          <p:nvPr/>
        </p:nvSpPr>
        <p:spPr>
          <a:xfrm>
            <a:off x="2629768" y="1828800"/>
            <a:ext cx="6538865"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TECHNOLOGY</a:t>
            </a:r>
          </a:p>
        </p:txBody>
      </p:sp>
      <p:sp>
        <p:nvSpPr>
          <p:cNvPr id="13" name="TextBox 12"/>
          <p:cNvSpPr txBox="1"/>
          <p:nvPr/>
        </p:nvSpPr>
        <p:spPr>
          <a:xfrm>
            <a:off x="9296649" y="1828800"/>
            <a:ext cx="2200101"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HOST</a:t>
            </a:r>
          </a:p>
        </p:txBody>
      </p:sp>
      <p:sp>
        <p:nvSpPr>
          <p:cNvPr id="14" name="Rectangle 13"/>
          <p:cNvSpPr/>
          <p:nvPr/>
        </p:nvSpPr>
        <p:spPr>
          <a:xfrm>
            <a:off x="1042416" y="2121408"/>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2240279"/>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Frontend</a:t>
            </a:r>
          </a:p>
        </p:txBody>
      </p:sp>
      <p:sp>
        <p:nvSpPr>
          <p:cNvPr id="16" name="TextBox 15"/>
          <p:cNvSpPr txBox="1"/>
          <p:nvPr/>
        </p:nvSpPr>
        <p:spPr>
          <a:xfrm>
            <a:off x="2629768" y="2240279"/>
            <a:ext cx="653886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Next.js 14, React 18, TypeScript, D3 visualizations, PWA-installable</a:t>
            </a:r>
          </a:p>
        </p:txBody>
      </p:sp>
      <p:sp>
        <p:nvSpPr>
          <p:cNvPr id="17" name="TextBox 16"/>
          <p:cNvSpPr txBox="1"/>
          <p:nvPr/>
        </p:nvSpPr>
        <p:spPr>
          <a:xfrm>
            <a:off x="9296649" y="2240279"/>
            <a:ext cx="220010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Vercel</a:t>
            </a:r>
          </a:p>
        </p:txBody>
      </p:sp>
      <p:sp>
        <p:nvSpPr>
          <p:cNvPr id="18" name="Rectangle 17"/>
          <p:cNvSpPr/>
          <p:nvPr/>
        </p:nvSpPr>
        <p:spPr>
          <a:xfrm>
            <a:off x="1042416" y="251459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2606039"/>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Backend</a:t>
            </a:r>
          </a:p>
        </p:txBody>
      </p:sp>
      <p:sp>
        <p:nvSpPr>
          <p:cNvPr id="20" name="TextBox 19"/>
          <p:cNvSpPr txBox="1"/>
          <p:nvPr/>
        </p:nvSpPr>
        <p:spPr>
          <a:xfrm>
            <a:off x="2629768" y="2606039"/>
            <a:ext cx="653886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FastAPI + uvicorn, LangChain, LangGraph, Docker container</a:t>
            </a:r>
          </a:p>
        </p:txBody>
      </p:sp>
      <p:sp>
        <p:nvSpPr>
          <p:cNvPr id="21" name="TextBox 20"/>
          <p:cNvSpPr txBox="1"/>
          <p:nvPr/>
        </p:nvSpPr>
        <p:spPr>
          <a:xfrm>
            <a:off x="9296649" y="2606039"/>
            <a:ext cx="220010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Fly.io</a:t>
            </a:r>
          </a:p>
        </p:txBody>
      </p:sp>
      <p:sp>
        <p:nvSpPr>
          <p:cNvPr id="22" name="Rectangle 21"/>
          <p:cNvSpPr/>
          <p:nvPr/>
        </p:nvSpPr>
        <p:spPr>
          <a:xfrm>
            <a:off x="1042416" y="288035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2971799"/>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Async jobs</a:t>
            </a:r>
          </a:p>
        </p:txBody>
      </p:sp>
      <p:sp>
        <p:nvSpPr>
          <p:cNvPr id="24" name="TextBox 23"/>
          <p:cNvSpPr txBox="1"/>
          <p:nvPr/>
        </p:nvSpPr>
        <p:spPr>
          <a:xfrm>
            <a:off x="2629768" y="2971799"/>
            <a:ext cx="653886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ARQ + Redis — long research runs enqueued, streamed by job id</a:t>
            </a:r>
          </a:p>
        </p:txBody>
      </p:sp>
      <p:sp>
        <p:nvSpPr>
          <p:cNvPr id="25" name="TextBox 24"/>
          <p:cNvSpPr txBox="1"/>
          <p:nvPr/>
        </p:nvSpPr>
        <p:spPr>
          <a:xfrm>
            <a:off x="9296649" y="2971799"/>
            <a:ext cx="220010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Fly.io</a:t>
            </a:r>
          </a:p>
        </p:txBody>
      </p:sp>
      <p:sp>
        <p:nvSpPr>
          <p:cNvPr id="26" name="Rectangle 25"/>
          <p:cNvSpPr/>
          <p:nvPr/>
        </p:nvSpPr>
        <p:spPr>
          <a:xfrm>
            <a:off x="1042416" y="324611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2416" y="3337559"/>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Storage</a:t>
            </a:r>
          </a:p>
        </p:txBody>
      </p:sp>
      <p:sp>
        <p:nvSpPr>
          <p:cNvPr id="28" name="TextBox 27"/>
          <p:cNvSpPr txBox="1"/>
          <p:nvPr/>
        </p:nvSpPr>
        <p:spPr>
          <a:xfrm>
            <a:off x="2629768" y="3337559"/>
            <a:ext cx="653886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Neon Postgres; Chroma vector store (opt-in)</a:t>
            </a:r>
          </a:p>
        </p:txBody>
      </p:sp>
      <p:sp>
        <p:nvSpPr>
          <p:cNvPr id="29" name="TextBox 28"/>
          <p:cNvSpPr txBox="1"/>
          <p:nvPr/>
        </p:nvSpPr>
        <p:spPr>
          <a:xfrm>
            <a:off x="9296649" y="3337559"/>
            <a:ext cx="220010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Managed</a:t>
            </a:r>
          </a:p>
        </p:txBody>
      </p:sp>
      <p:sp>
        <p:nvSpPr>
          <p:cNvPr id="30" name="Rectangle 29"/>
          <p:cNvSpPr/>
          <p:nvPr/>
        </p:nvSpPr>
        <p:spPr>
          <a:xfrm>
            <a:off x="1042416" y="361187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6" y="3703320"/>
            <a:ext cx="1459336"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IDE surface</a:t>
            </a:r>
          </a:p>
        </p:txBody>
      </p:sp>
      <p:sp>
        <p:nvSpPr>
          <p:cNvPr id="32" name="TextBox 31"/>
          <p:cNvSpPr txBox="1"/>
          <p:nvPr/>
        </p:nvSpPr>
        <p:spPr>
          <a:xfrm>
            <a:off x="2629768" y="3703320"/>
            <a:ext cx="6538865"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chronicle-mcp — MCP server, stdio or HTTP, 5 tools</a:t>
            </a:r>
          </a:p>
        </p:txBody>
      </p:sp>
      <p:sp>
        <p:nvSpPr>
          <p:cNvPr id="33" name="TextBox 32"/>
          <p:cNvSpPr txBox="1"/>
          <p:nvPr/>
        </p:nvSpPr>
        <p:spPr>
          <a:xfrm>
            <a:off x="9296649" y="3703320"/>
            <a:ext cx="2200101"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Cursor / Claude Desktop</a:t>
            </a:r>
          </a:p>
        </p:txBody>
      </p:sp>
      <p:sp>
        <p:nvSpPr>
          <p:cNvPr id="34" name="Rectangle 33"/>
          <p:cNvSpPr/>
          <p:nvPr/>
        </p:nvSpPr>
        <p:spPr>
          <a:xfrm>
            <a:off x="1042416" y="397764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2416" y="4384548"/>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25296" y="4288536"/>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Streaming: </a:t>
            </a:r>
            <a:r>
              <a:rPr sz="1300" b="0" i="0">
                <a:solidFill>
                  <a:srgbClr val="464E5E"/>
                </a:solidFill>
                <a:latin typeface="Calibri"/>
              </a:rPr>
              <a:t>/api/research-stream and per-job SSE endpoints push agent progress so the UI assembles live rather than spinning.</a:t>
            </a:r>
          </a:p>
        </p:txBody>
      </p:sp>
      <p:sp>
        <p:nvSpPr>
          <p:cNvPr id="37" name="Rectangle 36"/>
          <p:cNvSpPr/>
          <p:nvPr/>
        </p:nvSpPr>
        <p:spPr>
          <a:xfrm>
            <a:off x="1042416" y="4951476"/>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25296" y="4855464"/>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Ops detail: </a:t>
            </a:r>
            <a:r>
              <a:rPr sz="1300" b="0" i="0">
                <a:solidFill>
                  <a:srgbClr val="464E5E"/>
                </a:solidFill>
                <a:latin typeface="Calibri"/>
              </a:rPr>
              <a:t>Fly minimum machines set to 1 — scale-to-zero cold starts were exceeding the proxy timeout on first request.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08</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EVALUATION</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EVALUATION · METHOD</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How do you measure a research report?</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73936"/>
            <a:ext cx="9100822" cy="640080"/>
          </a:xfrm>
          <a:prstGeom prst="rect">
            <a:avLst/>
          </a:prstGeom>
          <a:noFill/>
        </p:spPr>
        <p:txBody>
          <a:bodyPr wrap="square" anchor="t" lIns="0" rIns="0" tIns="0" bIns="0">
            <a:spAutoFit/>
          </a:bodyPr>
          <a:lstStyle/>
          <a:p>
            <a:pPr algn="l">
              <a:lnSpc>
                <a:spcPct val="138000"/>
              </a:lnSpc>
              <a:spcBef>
                <a:spcPts val="0"/>
              </a:spcBef>
              <a:spcAft>
                <a:spcPts val="0"/>
              </a:spcAft>
            </a:pPr>
            <a:r>
              <a:rPr sz="1350" b="0" i="0">
                <a:solidFill>
                  <a:srgbClr val="464E5E"/>
                </a:solidFill>
                <a:latin typeface="Calibri"/>
              </a:rPr>
              <a:t>Report quality is subjective. Citation grounding is not — so that's what eval/run_eval.py measures, over 6 founder-style queries against the live API.</a:t>
            </a:r>
          </a:p>
        </p:txBody>
      </p:sp>
      <p:sp>
        <p:nvSpPr>
          <p:cNvPr id="12" name="TextBox 11"/>
          <p:cNvSpPr txBox="1"/>
          <p:nvPr/>
        </p:nvSpPr>
        <p:spPr>
          <a:xfrm>
            <a:off x="1042416" y="2615184"/>
            <a:ext cx="2411748"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METRIC</a:t>
            </a:r>
          </a:p>
        </p:txBody>
      </p:sp>
      <p:sp>
        <p:nvSpPr>
          <p:cNvPr id="13" name="TextBox 12"/>
          <p:cNvSpPr txBox="1"/>
          <p:nvPr/>
        </p:nvSpPr>
        <p:spPr>
          <a:xfrm>
            <a:off x="3582180" y="2615184"/>
            <a:ext cx="7914570"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HOW IT IS COMPUTED</a:t>
            </a:r>
          </a:p>
        </p:txBody>
      </p:sp>
      <p:sp>
        <p:nvSpPr>
          <p:cNvPr id="14" name="Rectangle 13"/>
          <p:cNvSpPr/>
          <p:nvPr/>
        </p:nvSpPr>
        <p:spPr>
          <a:xfrm>
            <a:off x="1042416" y="2907791"/>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3026663"/>
            <a:ext cx="2411748"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Grounding rate</a:t>
            </a:r>
          </a:p>
        </p:txBody>
      </p:sp>
      <p:sp>
        <p:nvSpPr>
          <p:cNvPr id="16" name="TextBox 15"/>
          <p:cNvSpPr txBox="1"/>
          <p:nvPr/>
        </p:nvSpPr>
        <p:spPr>
          <a:xfrm>
            <a:off x="3582180" y="3026663"/>
            <a:ext cx="7914570"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Fraction of cited URLs matching a source the retriever actually fetched — exact normalized URL first, then same-domain</a:t>
            </a:r>
          </a:p>
        </p:txBody>
      </p:sp>
      <p:sp>
        <p:nvSpPr>
          <p:cNvPr id="17" name="Rectangle 16"/>
          <p:cNvSpPr/>
          <p:nvPr/>
        </p:nvSpPr>
        <p:spPr>
          <a:xfrm>
            <a:off x="1042416" y="3483863"/>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575303"/>
            <a:ext cx="2411748"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URLs resolve</a:t>
            </a:r>
          </a:p>
        </p:txBody>
      </p:sp>
      <p:sp>
        <p:nvSpPr>
          <p:cNvPr id="19" name="TextBox 18"/>
          <p:cNvSpPr txBox="1"/>
          <p:nvPr/>
        </p:nvSpPr>
        <p:spPr>
          <a:xfrm>
            <a:off x="3582180" y="3575303"/>
            <a:ext cx="7914570"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--check-urls: every cited URL is fetched; HTTP &lt; 400 counts as resolving</a:t>
            </a:r>
          </a:p>
        </p:txBody>
      </p:sp>
      <p:sp>
        <p:nvSpPr>
          <p:cNvPr id="20" name="Rectangle 19"/>
          <p:cNvSpPr/>
          <p:nvPr/>
        </p:nvSpPr>
        <p:spPr>
          <a:xfrm>
            <a:off x="1042416" y="3849624"/>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3941063"/>
            <a:ext cx="2411748"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Time to cited report</a:t>
            </a:r>
          </a:p>
        </p:txBody>
      </p:sp>
      <p:sp>
        <p:nvSpPr>
          <p:cNvPr id="22" name="TextBox 21"/>
          <p:cNvSpPr txBox="1"/>
          <p:nvPr/>
        </p:nvSpPr>
        <p:spPr>
          <a:xfrm>
            <a:off x="3582180" y="3941063"/>
            <a:ext cx="7914570"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Wall clock around one /api/research call</a:t>
            </a:r>
          </a:p>
        </p:txBody>
      </p:sp>
      <p:sp>
        <p:nvSpPr>
          <p:cNvPr id="23" name="Rectangle 22"/>
          <p:cNvSpPr/>
          <p:nvPr/>
        </p:nvSpPr>
        <p:spPr>
          <a:xfrm>
            <a:off x="1042416" y="4215384"/>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 y="4306824"/>
            <a:ext cx="2411748"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Contradictions</a:t>
            </a:r>
          </a:p>
        </p:txBody>
      </p:sp>
      <p:sp>
        <p:nvSpPr>
          <p:cNvPr id="25" name="TextBox 24"/>
          <p:cNvSpPr txBox="1"/>
          <p:nvPr/>
        </p:nvSpPr>
        <p:spPr>
          <a:xfrm>
            <a:off x="3582180" y="4306824"/>
            <a:ext cx="7914570"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Length of analysis.contradictions, source-attributed</a:t>
            </a:r>
          </a:p>
        </p:txBody>
      </p:sp>
      <p:sp>
        <p:nvSpPr>
          <p:cNvPr id="26" name="Rectangle 25"/>
          <p:cNvSpPr/>
          <p:nvPr/>
        </p:nvSpPr>
        <p:spPr>
          <a:xfrm>
            <a:off x="1042416" y="4581144"/>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42416" y="4969764"/>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25296" y="4873752"/>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The ablation: </a:t>
            </a:r>
            <a:r>
              <a:rPr sz="1300" b="0" i="0">
                <a:solidFill>
                  <a:srgbClr val="464E5E"/>
                </a:solidFill>
                <a:latin typeface="Calibri"/>
              </a:rPr>
              <a:t>same 6 questions, one prompt, one strong model (Claude Sonnet 4.5), no retrieval, no verification.</a:t>
            </a:r>
          </a:p>
        </p:txBody>
      </p:sp>
      <p:sp>
        <p:nvSpPr>
          <p:cNvPr id="29" name="Rectangle 28"/>
          <p:cNvSpPr/>
          <p:nvPr/>
        </p:nvSpPr>
        <p:spPr>
          <a:xfrm>
            <a:off x="1042416" y="5298948"/>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25296" y="5202936"/>
            <a:ext cx="10399471" cy="365760"/>
          </a:xfrm>
          <a:prstGeom prst="rect">
            <a:avLst/>
          </a:prstGeom>
          <a:noFill/>
        </p:spPr>
        <p:txBody>
          <a:bodyPr wrap="square" anchor="t" lIns="0" rIns="0" tIns="0" bIns="0">
            <a:spAutoFit/>
          </a:bodyPr>
          <a:lstStyle/>
          <a:p>
            <a:pPr>
              <a:lnSpc>
                <a:spcPct val="134000"/>
              </a:lnSpc>
              <a:spcAft>
                <a:spcPts val="0"/>
              </a:spcAft>
            </a:pPr>
            <a:r>
              <a:rPr sz="1300" b="1" i="0">
                <a:solidFill>
                  <a:srgbClr val="161A22"/>
                </a:solidFill>
                <a:latin typeface="Calibri"/>
              </a:rPr>
              <a:t>Its citations are scored against an empty retrieval set, </a:t>
            </a:r>
            <a:r>
              <a:rPr sz="1300" b="0" i="0">
                <a:solidFill>
                  <a:srgbClr val="464E5E"/>
                </a:solidFill>
                <a:latin typeface="Calibri"/>
              </a:rPr>
              <a:t>so 0% grounding is true by construction — the informative number is how many of its URLs resolve at 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09</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RESULTS</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RESULTS · 6 QUERIES, LIVE DEPLOYMENT, 26 JUL 2026</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Grounded citations: 96.9% vs 0%</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 y="1810512"/>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029967"/>
            <a:ext cx="3253130"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70">
                <a:solidFill>
                  <a:srgbClr val="727B8C"/>
                </a:solidFill>
                <a:latin typeface="Consolas"/>
              </a:rPr>
              <a:t>CITATIONS GROUNDED</a:t>
            </a:r>
          </a:p>
        </p:txBody>
      </p:sp>
      <p:sp>
        <p:nvSpPr>
          <p:cNvPr id="13" name="TextBox 12"/>
          <p:cNvSpPr txBox="1"/>
          <p:nvPr/>
        </p:nvSpPr>
        <p:spPr>
          <a:xfrm>
            <a:off x="1042416" y="2267712"/>
            <a:ext cx="3253130" cy="566928"/>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2F6B4F"/>
                </a:solidFill>
                <a:latin typeface="Georgia"/>
              </a:rPr>
              <a:t>96.9%</a:t>
            </a:r>
          </a:p>
        </p:txBody>
      </p:sp>
      <p:sp>
        <p:nvSpPr>
          <p:cNvPr id="14" name="TextBox 13"/>
          <p:cNvSpPr txBox="1"/>
          <p:nvPr/>
        </p:nvSpPr>
        <p:spPr>
          <a:xfrm>
            <a:off x="1042416" y="2852928"/>
            <a:ext cx="3253130" cy="201168"/>
          </a:xfrm>
          <a:prstGeom prst="rect">
            <a:avLst/>
          </a:prstGeom>
          <a:noFill/>
        </p:spPr>
        <p:txBody>
          <a:bodyPr wrap="square" anchor="t" lIns="0" rIns="0" tIns="0" bIns="0">
            <a:spAutoFit/>
          </a:bodyPr>
          <a:lstStyle/>
          <a:p>
            <a:pPr algn="l">
              <a:lnSpc>
                <a:spcPct val="128000"/>
              </a:lnSpc>
              <a:spcBef>
                <a:spcPts val="0"/>
              </a:spcBef>
              <a:spcAft>
                <a:spcPts val="0"/>
              </a:spcAft>
            </a:pPr>
            <a:r>
              <a:rPr sz="1000" b="0" i="0">
                <a:solidFill>
                  <a:srgbClr val="727B8C"/>
                </a:solidFill>
                <a:latin typeface="Consolas"/>
              </a:rPr>
              <a:t>62 of 64 · single LLM: 0%</a:t>
            </a:r>
          </a:p>
        </p:txBody>
      </p:sp>
      <p:sp>
        <p:nvSpPr>
          <p:cNvPr id="15" name="Rectangle 14"/>
          <p:cNvSpPr/>
          <p:nvPr/>
        </p:nvSpPr>
        <p:spPr>
          <a:xfrm>
            <a:off x="4560722" y="1901952"/>
            <a:ext cx="8229" cy="1170432"/>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89322" y="2029967"/>
            <a:ext cx="3253130"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70">
                <a:solidFill>
                  <a:srgbClr val="727B8C"/>
                </a:solidFill>
                <a:latin typeface="Consolas"/>
              </a:rPr>
              <a:t>CITED URLS RESOLVE</a:t>
            </a:r>
          </a:p>
        </p:txBody>
      </p:sp>
      <p:sp>
        <p:nvSpPr>
          <p:cNvPr id="17" name="TextBox 16"/>
          <p:cNvSpPr txBox="1"/>
          <p:nvPr/>
        </p:nvSpPr>
        <p:spPr>
          <a:xfrm>
            <a:off x="4789322" y="2267712"/>
            <a:ext cx="3253130" cy="566928"/>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2F6B4F"/>
                </a:solidFill>
                <a:latin typeface="Georgia"/>
              </a:rPr>
              <a:t>100%</a:t>
            </a:r>
          </a:p>
        </p:txBody>
      </p:sp>
      <p:sp>
        <p:nvSpPr>
          <p:cNvPr id="18" name="TextBox 17"/>
          <p:cNvSpPr txBox="1"/>
          <p:nvPr/>
        </p:nvSpPr>
        <p:spPr>
          <a:xfrm>
            <a:off x="4789322" y="2852928"/>
            <a:ext cx="3253130" cy="201168"/>
          </a:xfrm>
          <a:prstGeom prst="rect">
            <a:avLst/>
          </a:prstGeom>
          <a:noFill/>
        </p:spPr>
        <p:txBody>
          <a:bodyPr wrap="square" anchor="t" lIns="0" rIns="0" tIns="0" bIns="0">
            <a:spAutoFit/>
          </a:bodyPr>
          <a:lstStyle/>
          <a:p>
            <a:pPr algn="l">
              <a:lnSpc>
                <a:spcPct val="128000"/>
              </a:lnSpc>
              <a:spcBef>
                <a:spcPts val="0"/>
              </a:spcBef>
              <a:spcAft>
                <a:spcPts val="0"/>
              </a:spcAft>
            </a:pPr>
            <a:r>
              <a:rPr sz="1000" b="0" i="0">
                <a:solidFill>
                  <a:srgbClr val="727B8C"/>
                </a:solidFill>
                <a:latin typeface="Consolas"/>
              </a:rPr>
              <a:t>64 of 64 · single LLM: 65.7%</a:t>
            </a:r>
          </a:p>
        </p:txBody>
      </p:sp>
      <p:sp>
        <p:nvSpPr>
          <p:cNvPr id="19" name="Rectangle 18"/>
          <p:cNvSpPr/>
          <p:nvPr/>
        </p:nvSpPr>
        <p:spPr>
          <a:xfrm>
            <a:off x="8088172" y="1901952"/>
            <a:ext cx="8229" cy="1170432"/>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6772" y="2029967"/>
            <a:ext cx="3253130"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70">
                <a:solidFill>
                  <a:srgbClr val="727B8C"/>
                </a:solidFill>
                <a:latin typeface="Consolas"/>
              </a:rPr>
              <a:t>TIME TO REPORT</a:t>
            </a:r>
          </a:p>
        </p:txBody>
      </p:sp>
      <p:sp>
        <p:nvSpPr>
          <p:cNvPr id="21" name="TextBox 20"/>
          <p:cNvSpPr txBox="1"/>
          <p:nvPr/>
        </p:nvSpPr>
        <p:spPr>
          <a:xfrm>
            <a:off x="8316772" y="2267712"/>
            <a:ext cx="3253130" cy="566928"/>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96601F"/>
                </a:solidFill>
                <a:latin typeface="Georgia"/>
              </a:rPr>
              <a:t>48.6 s</a:t>
            </a:r>
          </a:p>
        </p:txBody>
      </p:sp>
      <p:sp>
        <p:nvSpPr>
          <p:cNvPr id="22" name="TextBox 21"/>
          <p:cNvSpPr txBox="1"/>
          <p:nvPr/>
        </p:nvSpPr>
        <p:spPr>
          <a:xfrm>
            <a:off x="8316772" y="2852928"/>
            <a:ext cx="3253130" cy="201168"/>
          </a:xfrm>
          <a:prstGeom prst="rect">
            <a:avLst/>
          </a:prstGeom>
          <a:noFill/>
        </p:spPr>
        <p:txBody>
          <a:bodyPr wrap="square" anchor="t" lIns="0" rIns="0" tIns="0" bIns="0">
            <a:spAutoFit/>
          </a:bodyPr>
          <a:lstStyle/>
          <a:p>
            <a:pPr algn="l">
              <a:lnSpc>
                <a:spcPct val="128000"/>
              </a:lnSpc>
              <a:spcBef>
                <a:spcPts val="0"/>
              </a:spcBef>
              <a:spcAft>
                <a:spcPts val="0"/>
              </a:spcAft>
            </a:pPr>
            <a:r>
              <a:rPr sz="1000" b="0" i="0">
                <a:solidFill>
                  <a:srgbClr val="727B8C"/>
                </a:solidFill>
                <a:latin typeface="Consolas"/>
              </a:rPr>
              <a:t>single LLM: 20.1 s — 2.4× slower</a:t>
            </a:r>
          </a:p>
        </p:txBody>
      </p:sp>
      <p:sp>
        <p:nvSpPr>
          <p:cNvPr id="23" name="Rectangle 22"/>
          <p:cNvSpPr/>
          <p:nvPr/>
        </p:nvSpPr>
        <p:spPr>
          <a:xfrm>
            <a:off x="1042416" y="3163824"/>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 y="3419856"/>
            <a:ext cx="4951512"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METRIC</a:t>
            </a:r>
          </a:p>
        </p:txBody>
      </p:sp>
      <p:sp>
        <p:nvSpPr>
          <p:cNvPr id="25" name="TextBox 24"/>
          <p:cNvSpPr txBox="1"/>
          <p:nvPr/>
        </p:nvSpPr>
        <p:spPr>
          <a:xfrm>
            <a:off x="6121944" y="3419856"/>
            <a:ext cx="2200101" cy="201168"/>
          </a:xfrm>
          <a:prstGeom prst="rect">
            <a:avLst/>
          </a:prstGeom>
          <a:noFill/>
        </p:spPr>
        <p:txBody>
          <a:bodyPr wrap="square" anchor="t" lIns="0" rIns="0" tIns="0" bIns="0">
            <a:spAutoFit/>
          </a:bodyPr>
          <a:lstStyle/>
          <a:p>
            <a:pPr algn="r">
              <a:lnSpc>
                <a:spcPct val="128000"/>
              </a:lnSpc>
              <a:spcBef>
                <a:spcPts val="0"/>
              </a:spcBef>
              <a:spcAft>
                <a:spcPts val="0"/>
              </a:spcAft>
            </a:pPr>
            <a:r>
              <a:rPr sz="950" b="0" i="0" spc="160">
                <a:solidFill>
                  <a:srgbClr val="727B8C"/>
                </a:solidFill>
                <a:latin typeface="Consolas"/>
              </a:rPr>
              <a:t>MULTI-AGENT</a:t>
            </a:r>
          </a:p>
        </p:txBody>
      </p:sp>
      <p:sp>
        <p:nvSpPr>
          <p:cNvPr id="26" name="TextBox 25"/>
          <p:cNvSpPr txBox="1"/>
          <p:nvPr/>
        </p:nvSpPr>
        <p:spPr>
          <a:xfrm>
            <a:off x="8450061" y="3419856"/>
            <a:ext cx="3046689" cy="201168"/>
          </a:xfrm>
          <a:prstGeom prst="rect">
            <a:avLst/>
          </a:prstGeom>
          <a:noFill/>
        </p:spPr>
        <p:txBody>
          <a:bodyPr wrap="square" anchor="t" lIns="0" rIns="0" tIns="0" bIns="0">
            <a:spAutoFit/>
          </a:bodyPr>
          <a:lstStyle/>
          <a:p>
            <a:pPr algn="r">
              <a:lnSpc>
                <a:spcPct val="128000"/>
              </a:lnSpc>
              <a:spcBef>
                <a:spcPts val="0"/>
              </a:spcBef>
              <a:spcAft>
                <a:spcPts val="0"/>
              </a:spcAft>
            </a:pPr>
            <a:r>
              <a:rPr sz="950" b="0" i="0" spc="160">
                <a:solidFill>
                  <a:srgbClr val="727B8C"/>
                </a:solidFill>
                <a:latin typeface="Consolas"/>
              </a:rPr>
              <a:t>SINGLE LLM (SONNET 4.5)</a:t>
            </a:r>
          </a:p>
        </p:txBody>
      </p:sp>
      <p:sp>
        <p:nvSpPr>
          <p:cNvPr id="27" name="Rectangle 26"/>
          <p:cNvSpPr/>
          <p:nvPr/>
        </p:nvSpPr>
        <p:spPr>
          <a:xfrm>
            <a:off x="1042416" y="3712464"/>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3831336"/>
            <a:ext cx="495151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Citations produced</a:t>
            </a:r>
          </a:p>
        </p:txBody>
      </p:sp>
      <p:sp>
        <p:nvSpPr>
          <p:cNvPr id="29" name="TextBox 28"/>
          <p:cNvSpPr txBox="1"/>
          <p:nvPr/>
        </p:nvSpPr>
        <p:spPr>
          <a:xfrm>
            <a:off x="6121944" y="3831336"/>
            <a:ext cx="2200101"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64</a:t>
            </a:r>
          </a:p>
        </p:txBody>
      </p:sp>
      <p:sp>
        <p:nvSpPr>
          <p:cNvPr id="30" name="TextBox 29"/>
          <p:cNvSpPr txBox="1"/>
          <p:nvPr/>
        </p:nvSpPr>
        <p:spPr>
          <a:xfrm>
            <a:off x="8450061" y="3831336"/>
            <a:ext cx="304668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35</a:t>
            </a:r>
          </a:p>
        </p:txBody>
      </p:sp>
      <p:sp>
        <p:nvSpPr>
          <p:cNvPr id="31" name="Rectangle 30"/>
          <p:cNvSpPr/>
          <p:nvPr/>
        </p:nvSpPr>
        <p:spPr>
          <a:xfrm>
            <a:off x="1042416" y="4073652"/>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2416" y="4165092"/>
            <a:ext cx="495151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Grounded in a retrieved source</a:t>
            </a:r>
          </a:p>
        </p:txBody>
      </p:sp>
      <p:sp>
        <p:nvSpPr>
          <p:cNvPr id="33" name="TextBox 32"/>
          <p:cNvSpPr txBox="1"/>
          <p:nvPr/>
        </p:nvSpPr>
        <p:spPr>
          <a:xfrm>
            <a:off x="6121944" y="4165092"/>
            <a:ext cx="2200101" cy="274320"/>
          </a:xfrm>
          <a:prstGeom prst="rect">
            <a:avLst/>
          </a:prstGeom>
          <a:noFill/>
        </p:spPr>
        <p:txBody>
          <a:bodyPr wrap="square" anchor="t" lIns="0" rIns="0" tIns="0" bIns="0">
            <a:spAutoFit/>
          </a:bodyPr>
          <a:lstStyle/>
          <a:p>
            <a:pPr algn="r">
              <a:lnSpc>
                <a:spcPct val="130000"/>
              </a:lnSpc>
              <a:spcBef>
                <a:spcPts val="0"/>
              </a:spcBef>
              <a:spcAft>
                <a:spcPts val="0"/>
              </a:spcAft>
            </a:pPr>
            <a:r>
              <a:rPr sz="1250" b="1" i="0">
                <a:solidFill>
                  <a:srgbClr val="2F6B4F"/>
                </a:solidFill>
                <a:latin typeface="Consolas"/>
              </a:rPr>
              <a:t>96.9%</a:t>
            </a:r>
          </a:p>
        </p:txBody>
      </p:sp>
      <p:sp>
        <p:nvSpPr>
          <p:cNvPr id="34" name="TextBox 33"/>
          <p:cNvSpPr txBox="1"/>
          <p:nvPr/>
        </p:nvSpPr>
        <p:spPr>
          <a:xfrm>
            <a:off x="8450061" y="4165092"/>
            <a:ext cx="304668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1" i="0">
                <a:solidFill>
                  <a:srgbClr val="973B34"/>
                </a:solidFill>
                <a:latin typeface="Consolas"/>
              </a:rPr>
              <a:t>0%</a:t>
            </a:r>
          </a:p>
        </p:txBody>
      </p:sp>
      <p:sp>
        <p:nvSpPr>
          <p:cNvPr id="35" name="Rectangle 34"/>
          <p:cNvSpPr/>
          <p:nvPr/>
        </p:nvSpPr>
        <p:spPr>
          <a:xfrm>
            <a:off x="1042416" y="4407408"/>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2416" y="4498848"/>
            <a:ext cx="495151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Cited URLs that resolve</a:t>
            </a:r>
          </a:p>
        </p:txBody>
      </p:sp>
      <p:sp>
        <p:nvSpPr>
          <p:cNvPr id="37" name="TextBox 36"/>
          <p:cNvSpPr txBox="1"/>
          <p:nvPr/>
        </p:nvSpPr>
        <p:spPr>
          <a:xfrm>
            <a:off x="6121944" y="4498848"/>
            <a:ext cx="2200101" cy="274320"/>
          </a:xfrm>
          <a:prstGeom prst="rect">
            <a:avLst/>
          </a:prstGeom>
          <a:noFill/>
        </p:spPr>
        <p:txBody>
          <a:bodyPr wrap="square" anchor="t" lIns="0" rIns="0" tIns="0" bIns="0">
            <a:spAutoFit/>
          </a:bodyPr>
          <a:lstStyle/>
          <a:p>
            <a:pPr algn="r">
              <a:lnSpc>
                <a:spcPct val="130000"/>
              </a:lnSpc>
              <a:spcBef>
                <a:spcPts val="0"/>
              </a:spcBef>
              <a:spcAft>
                <a:spcPts val="0"/>
              </a:spcAft>
            </a:pPr>
            <a:r>
              <a:rPr sz="1250" b="1" i="0">
                <a:solidFill>
                  <a:srgbClr val="2F6B4F"/>
                </a:solidFill>
                <a:latin typeface="Consolas"/>
              </a:rPr>
              <a:t>64 / 64</a:t>
            </a:r>
          </a:p>
        </p:txBody>
      </p:sp>
      <p:sp>
        <p:nvSpPr>
          <p:cNvPr id="38" name="TextBox 37"/>
          <p:cNvSpPr txBox="1"/>
          <p:nvPr/>
        </p:nvSpPr>
        <p:spPr>
          <a:xfrm>
            <a:off x="8450061" y="4498848"/>
            <a:ext cx="304668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1" i="0">
                <a:solidFill>
                  <a:srgbClr val="973B34"/>
                </a:solidFill>
                <a:latin typeface="Consolas"/>
              </a:rPr>
              <a:t>23 / 35</a:t>
            </a:r>
          </a:p>
        </p:txBody>
      </p:sp>
      <p:sp>
        <p:nvSpPr>
          <p:cNvPr id="39" name="Rectangle 38"/>
          <p:cNvSpPr/>
          <p:nvPr/>
        </p:nvSpPr>
        <p:spPr>
          <a:xfrm>
            <a:off x="1042416" y="4741164"/>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2416" y="4832604"/>
            <a:ext cx="495151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Credibility spread (high / med / low)</a:t>
            </a:r>
          </a:p>
        </p:txBody>
      </p:sp>
      <p:sp>
        <p:nvSpPr>
          <p:cNvPr id="41" name="TextBox 40"/>
          <p:cNvSpPr txBox="1"/>
          <p:nvPr/>
        </p:nvSpPr>
        <p:spPr>
          <a:xfrm>
            <a:off x="6121944" y="4832604"/>
            <a:ext cx="2200101"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6 / 2.8 / 8.2</a:t>
            </a:r>
          </a:p>
        </p:txBody>
      </p:sp>
      <p:sp>
        <p:nvSpPr>
          <p:cNvPr id="42" name="TextBox 41"/>
          <p:cNvSpPr txBox="1"/>
          <p:nvPr/>
        </p:nvSpPr>
        <p:spPr>
          <a:xfrm>
            <a:off x="8450061" y="4832604"/>
            <a:ext cx="3046689" cy="274320"/>
          </a:xfrm>
          <a:prstGeom prst="rect">
            <a:avLst/>
          </a:prstGeom>
          <a:noFill/>
        </p:spPr>
        <p:txBody>
          <a:bodyPr wrap="square" anchor="t" lIns="0" rIns="0" tIns="0" bIns="0">
            <a:spAutoFit/>
          </a:bodyPr>
          <a:lstStyle/>
          <a:p>
            <a:pPr algn="r">
              <a:lnSpc>
                <a:spcPct val="130000"/>
              </a:lnSpc>
              <a:spcBef>
                <a:spcPts val="0"/>
              </a:spcBef>
              <a:spcAft>
                <a:spcPts val="0"/>
              </a:spcAft>
            </a:pPr>
            <a:r>
              <a:rPr sz="1250" b="0" i="0">
                <a:solidFill>
                  <a:srgbClr val="464E5E"/>
                </a:solidFill>
                <a:latin typeface="Consolas"/>
              </a:rPr>
              <a:t>—</a:t>
            </a:r>
          </a:p>
        </p:txBody>
      </p:sp>
      <p:sp>
        <p:nvSpPr>
          <p:cNvPr id="43" name="Rectangle 42"/>
          <p:cNvSpPr/>
          <p:nvPr/>
        </p:nvSpPr>
        <p:spPr>
          <a:xfrm>
            <a:off x="1042416" y="507492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42416" y="5294376"/>
            <a:ext cx="10582351" cy="12801"/>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2416" y="5440680"/>
            <a:ext cx="5820293" cy="219456"/>
          </a:xfrm>
          <a:prstGeom prst="rect">
            <a:avLst/>
          </a:prstGeom>
          <a:noFill/>
        </p:spPr>
        <p:txBody>
          <a:bodyPr wrap="square" anchor="t" lIns="0" rIns="0" tIns="0" bIns="0">
            <a:spAutoFit/>
          </a:bodyPr>
          <a:lstStyle/>
          <a:p>
            <a:pPr algn="l">
              <a:lnSpc>
                <a:spcPct val="128000"/>
              </a:lnSpc>
              <a:spcBef>
                <a:spcPts val="0"/>
              </a:spcBef>
              <a:spcAft>
                <a:spcPts val="0"/>
              </a:spcAft>
            </a:pPr>
            <a:r>
              <a:rPr sz="1050" b="0" i="0">
                <a:solidFill>
                  <a:srgbClr val="727B8C"/>
                </a:solidFill>
                <a:latin typeface="Consolas"/>
              </a:rPr>
              <a:t>12 of the 35 URLs the single model cited do not exist.</a:t>
            </a:r>
          </a:p>
        </p:txBody>
      </p:sp>
      <p:sp>
        <p:nvSpPr>
          <p:cNvPr id="46" name="TextBox 45"/>
          <p:cNvSpPr txBox="1"/>
          <p:nvPr/>
        </p:nvSpPr>
        <p:spPr>
          <a:xfrm>
            <a:off x="6862709" y="5440680"/>
            <a:ext cx="4762058" cy="219456"/>
          </a:xfrm>
          <a:prstGeom prst="rect">
            <a:avLst/>
          </a:prstGeom>
          <a:noFill/>
        </p:spPr>
        <p:txBody>
          <a:bodyPr wrap="square" anchor="t" lIns="0" rIns="0" tIns="0" bIns="0">
            <a:spAutoFit/>
          </a:bodyPr>
          <a:lstStyle/>
          <a:p>
            <a:pPr algn="r">
              <a:lnSpc>
                <a:spcPct val="128000"/>
              </a:lnSpc>
              <a:spcBef>
                <a:spcPts val="0"/>
              </a:spcBef>
              <a:spcAft>
                <a:spcPts val="0"/>
              </a:spcAft>
            </a:pPr>
            <a:r>
              <a:rPr sz="1050" b="0" i="0">
                <a:solidFill>
                  <a:srgbClr val="727B8C"/>
                </a:solidFill>
                <a:latin typeface="Consolas"/>
              </a:rPr>
              <a:t>Hallucinated citation, measured — not asserted.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10</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FINDINGS</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WHAT MEASUREMENT EXPOSED</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The harness caught four failures the UI hid</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73936"/>
            <a:ext cx="9100822" cy="640080"/>
          </a:xfrm>
          <a:prstGeom prst="rect">
            <a:avLst/>
          </a:prstGeom>
          <a:noFill/>
        </p:spPr>
        <p:txBody>
          <a:bodyPr wrap="square" anchor="t" lIns="0" rIns="0" tIns="0" bIns="0">
            <a:spAutoFit/>
          </a:bodyPr>
          <a:lstStyle/>
          <a:p>
            <a:pPr algn="l">
              <a:lnSpc>
                <a:spcPct val="138000"/>
              </a:lnSpc>
              <a:spcBef>
                <a:spcPts val="0"/>
              </a:spcBef>
              <a:spcAft>
                <a:spcPts val="0"/>
              </a:spcAft>
            </a:pPr>
            <a:r>
              <a:rPr sz="1350" b="0" i="0">
                <a:solidFill>
                  <a:srgbClr val="464E5E"/>
                </a:solidFill>
                <a:latin typeface="Calibri"/>
              </a:rPr>
              <a:t>Every one of these was found by running the evaluation against the live deployment. All four are fixed and redeployed.</a:t>
            </a:r>
          </a:p>
        </p:txBody>
      </p:sp>
      <p:sp>
        <p:nvSpPr>
          <p:cNvPr id="12" name="TextBox 11"/>
          <p:cNvSpPr txBox="1"/>
          <p:nvPr/>
        </p:nvSpPr>
        <p:spPr>
          <a:xfrm>
            <a:off x="1042416" y="2615184"/>
            <a:ext cx="1988454"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FAILURE</a:t>
            </a:r>
          </a:p>
        </p:txBody>
      </p:sp>
      <p:sp>
        <p:nvSpPr>
          <p:cNvPr id="13" name="TextBox 12"/>
          <p:cNvSpPr txBox="1"/>
          <p:nvPr/>
        </p:nvSpPr>
        <p:spPr>
          <a:xfrm>
            <a:off x="3158886" y="2615184"/>
            <a:ext cx="5480630"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WHAT WAS ACTUALLY HAPPENING</a:t>
            </a:r>
          </a:p>
        </p:txBody>
      </p:sp>
      <p:sp>
        <p:nvSpPr>
          <p:cNvPr id="14" name="TextBox 13"/>
          <p:cNvSpPr txBox="1"/>
          <p:nvPr/>
        </p:nvSpPr>
        <p:spPr>
          <a:xfrm>
            <a:off x="8767532" y="2615184"/>
            <a:ext cx="2729218"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FIX</a:t>
            </a:r>
          </a:p>
        </p:txBody>
      </p:sp>
      <p:sp>
        <p:nvSpPr>
          <p:cNvPr id="15" name="Rectangle 14"/>
          <p:cNvSpPr/>
          <p:nvPr/>
        </p:nvSpPr>
        <p:spPr>
          <a:xfrm>
            <a:off x="1042416" y="2907791"/>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026663"/>
            <a:ext cx="1988454" cy="274320"/>
          </a:xfrm>
          <a:prstGeom prst="rect">
            <a:avLst/>
          </a:prstGeom>
          <a:noFill/>
        </p:spPr>
        <p:txBody>
          <a:bodyPr wrap="square" anchor="t" lIns="0" rIns="0" tIns="0" bIns="0">
            <a:spAutoFit/>
          </a:bodyPr>
          <a:lstStyle/>
          <a:p>
            <a:pPr algn="l">
              <a:lnSpc>
                <a:spcPct val="130000"/>
              </a:lnSpc>
              <a:spcBef>
                <a:spcPts val="0"/>
              </a:spcBef>
              <a:spcAft>
                <a:spcPts val="0"/>
              </a:spcAft>
            </a:pPr>
            <a:r>
              <a:rPr sz="1200" b="1" i="0">
                <a:solidFill>
                  <a:srgbClr val="161A22"/>
                </a:solidFill>
                <a:latin typeface="Calibri"/>
              </a:rPr>
              <a:t>Mock analysis in production</a:t>
            </a:r>
          </a:p>
        </p:txBody>
      </p:sp>
      <p:sp>
        <p:nvSpPr>
          <p:cNvPr id="17" name="TextBox 16"/>
          <p:cNvSpPr txBox="1"/>
          <p:nvPr/>
        </p:nvSpPr>
        <p:spPr>
          <a:xfrm>
            <a:off x="3158886" y="3026663"/>
            <a:ext cx="5480630"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Every report's findings and contradictions were byte-identical canned strings. ANALYZER_MODEL pointed at a Claude 3.5 slug OpenRouter no longer lists.</a:t>
            </a:r>
          </a:p>
        </p:txBody>
      </p:sp>
      <p:sp>
        <p:nvSpPr>
          <p:cNvPr id="18" name="TextBox 17"/>
          <p:cNvSpPr txBox="1"/>
          <p:nvPr/>
        </p:nvSpPr>
        <p:spPr>
          <a:xfrm>
            <a:off x="8767532" y="3026663"/>
            <a:ext cx="2729218"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Native provider routing + a model id that exists</a:t>
            </a:r>
          </a:p>
        </p:txBody>
      </p:sp>
      <p:sp>
        <p:nvSpPr>
          <p:cNvPr id="19" name="Rectangle 18"/>
          <p:cNvSpPr/>
          <p:nvPr/>
        </p:nvSpPr>
        <p:spPr>
          <a:xfrm>
            <a:off x="1042416" y="3698748"/>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790187"/>
            <a:ext cx="1988454" cy="274320"/>
          </a:xfrm>
          <a:prstGeom prst="rect">
            <a:avLst/>
          </a:prstGeom>
          <a:noFill/>
        </p:spPr>
        <p:txBody>
          <a:bodyPr wrap="square" anchor="t" lIns="0" rIns="0" tIns="0" bIns="0">
            <a:spAutoFit/>
          </a:bodyPr>
          <a:lstStyle/>
          <a:p>
            <a:pPr algn="l">
              <a:lnSpc>
                <a:spcPct val="130000"/>
              </a:lnSpc>
              <a:spcBef>
                <a:spcPts val="0"/>
              </a:spcBef>
              <a:spcAft>
                <a:spcPts val="0"/>
              </a:spcAft>
            </a:pPr>
            <a:r>
              <a:rPr sz="1200" b="1" i="0">
                <a:solidFill>
                  <a:srgbClr val="161A22"/>
                </a:solidFill>
                <a:latin typeface="Calibri"/>
              </a:rPr>
              <a:t>Dead paper channel</a:t>
            </a:r>
          </a:p>
        </p:txBody>
      </p:sp>
      <p:sp>
        <p:nvSpPr>
          <p:cNvPr id="21" name="TextBox 20"/>
          <p:cNvSpPr txBox="1"/>
          <p:nvPr/>
        </p:nvSpPr>
        <p:spPr>
          <a:xfrm>
            <a:off x="3158886" y="3790187"/>
            <a:ext cx="5480630"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papers was 0 on all 6 queries, including a RAG question. LangChain's arXiv wrapper calls a method removed in arxiv 2.2+.</a:t>
            </a:r>
          </a:p>
        </p:txBody>
      </p:sp>
      <p:sp>
        <p:nvSpPr>
          <p:cNvPr id="22" name="TextBox 21"/>
          <p:cNvSpPr txBox="1"/>
          <p:nvPr/>
        </p:nvSpPr>
        <p:spPr>
          <a:xfrm>
            <a:off x="8767532" y="3790187"/>
            <a:ext cx="2729218"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Call the arXiv SDK directly</a:t>
            </a:r>
          </a:p>
        </p:txBody>
      </p:sp>
      <p:sp>
        <p:nvSpPr>
          <p:cNvPr id="23" name="Rectangle 22"/>
          <p:cNvSpPr/>
          <p:nvPr/>
        </p:nvSpPr>
        <p:spPr>
          <a:xfrm>
            <a:off x="1042416" y="4247388"/>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 y="4338827"/>
            <a:ext cx="1988454" cy="274320"/>
          </a:xfrm>
          <a:prstGeom prst="rect">
            <a:avLst/>
          </a:prstGeom>
          <a:noFill/>
        </p:spPr>
        <p:txBody>
          <a:bodyPr wrap="square" anchor="t" lIns="0" rIns="0" tIns="0" bIns="0">
            <a:spAutoFit/>
          </a:bodyPr>
          <a:lstStyle/>
          <a:p>
            <a:pPr algn="l">
              <a:lnSpc>
                <a:spcPct val="130000"/>
              </a:lnSpc>
              <a:spcBef>
                <a:spcPts val="0"/>
              </a:spcBef>
              <a:spcAft>
                <a:spcPts val="0"/>
              </a:spcAft>
            </a:pPr>
            <a:r>
              <a:rPr sz="1200" b="1" i="0">
                <a:solidFill>
                  <a:srgbClr val="161A22"/>
                </a:solidFill>
                <a:latin typeface="Calibri"/>
              </a:rPr>
              <a:t>Fabricating fallbacks</a:t>
            </a:r>
          </a:p>
        </p:txBody>
      </p:sp>
      <p:sp>
        <p:nvSpPr>
          <p:cNvPr id="25" name="TextBox 24"/>
          <p:cNvSpPr txBox="1"/>
          <p:nvPr/>
        </p:nvSpPr>
        <p:spPr>
          <a:xfrm>
            <a:off x="3158886" y="4338827"/>
            <a:ext cx="5480630"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Failure paths returned plausible filler — "multiple stakeholders involved" — that reads as a finding.</a:t>
            </a:r>
          </a:p>
        </p:txBody>
      </p:sp>
      <p:sp>
        <p:nvSpPr>
          <p:cNvPr id="26" name="TextBox 25"/>
          <p:cNvSpPr txBox="1"/>
          <p:nvPr/>
        </p:nvSpPr>
        <p:spPr>
          <a:xfrm>
            <a:off x="8767532" y="4338827"/>
            <a:ext cx="2729218"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Empty, attributable fallbacks + UI banner</a:t>
            </a:r>
          </a:p>
        </p:txBody>
      </p:sp>
      <p:sp>
        <p:nvSpPr>
          <p:cNvPr id="27" name="Rectangle 26"/>
          <p:cNvSpPr/>
          <p:nvPr/>
        </p:nvSpPr>
        <p:spPr>
          <a:xfrm>
            <a:off x="1042416" y="4796027"/>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4887467"/>
            <a:ext cx="1988454" cy="274320"/>
          </a:xfrm>
          <a:prstGeom prst="rect">
            <a:avLst/>
          </a:prstGeom>
          <a:noFill/>
        </p:spPr>
        <p:txBody>
          <a:bodyPr wrap="square" anchor="t" lIns="0" rIns="0" tIns="0" bIns="0">
            <a:spAutoFit/>
          </a:bodyPr>
          <a:lstStyle/>
          <a:p>
            <a:pPr algn="l">
              <a:lnSpc>
                <a:spcPct val="130000"/>
              </a:lnSpc>
              <a:spcBef>
                <a:spcPts val="0"/>
              </a:spcBef>
              <a:spcAft>
                <a:spcPts val="0"/>
              </a:spcAft>
            </a:pPr>
            <a:r>
              <a:rPr sz="1200" b="1" i="0">
                <a:solidFill>
                  <a:srgbClr val="161A22"/>
                </a:solidFill>
                <a:latin typeface="Calibri"/>
              </a:rPr>
              <a:t>Report from zero sources</a:t>
            </a:r>
          </a:p>
        </p:txBody>
      </p:sp>
      <p:sp>
        <p:nvSpPr>
          <p:cNvPr id="29" name="TextBox 28"/>
          <p:cNvSpPr txBox="1"/>
          <p:nvPr/>
        </p:nvSpPr>
        <p:spPr>
          <a:xfrm>
            <a:off x="3158886" y="4887467"/>
            <a:ext cx="5480630"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Handed no sources, the report model wrote a fluent, fully ungrounded report from its priors.</a:t>
            </a:r>
          </a:p>
        </p:txBody>
      </p:sp>
      <p:sp>
        <p:nvSpPr>
          <p:cNvPr id="30" name="TextBox 29"/>
          <p:cNvSpPr txBox="1"/>
          <p:nvPr/>
        </p:nvSpPr>
        <p:spPr>
          <a:xfrm>
            <a:off x="8767532" y="4887467"/>
            <a:ext cx="2729218" cy="274320"/>
          </a:xfrm>
          <a:prstGeom prst="rect">
            <a:avLst/>
          </a:prstGeom>
          <a:noFill/>
        </p:spPr>
        <p:txBody>
          <a:bodyPr wrap="square" anchor="t" lIns="0" rIns="0" tIns="0" bIns="0">
            <a:spAutoFit/>
          </a:bodyPr>
          <a:lstStyle/>
          <a:p>
            <a:pPr algn="l">
              <a:lnSpc>
                <a:spcPct val="130000"/>
              </a:lnSpc>
              <a:spcBef>
                <a:spcPts val="0"/>
              </a:spcBef>
              <a:spcAft>
                <a:spcPts val="0"/>
              </a:spcAft>
            </a:pPr>
            <a:r>
              <a:rPr sz="1200" b="0" i="0">
                <a:solidFill>
                  <a:srgbClr val="464E5E"/>
                </a:solidFill>
                <a:latin typeface="Calibri"/>
              </a:rPr>
              <a:t>Short-circuit and refuse</a:t>
            </a:r>
          </a:p>
        </p:txBody>
      </p:sp>
      <p:sp>
        <p:nvSpPr>
          <p:cNvPr id="31" name="Rectangle 30"/>
          <p:cNvSpPr/>
          <p:nvPr/>
        </p:nvSpPr>
        <p:spPr>
          <a:xfrm>
            <a:off x="1042416" y="5344667"/>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416" y="5582411"/>
            <a:ext cx="10582351" cy="12801"/>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2416" y="5728715"/>
            <a:ext cx="5820293" cy="219456"/>
          </a:xfrm>
          <a:prstGeom prst="rect">
            <a:avLst/>
          </a:prstGeom>
          <a:noFill/>
        </p:spPr>
        <p:txBody>
          <a:bodyPr wrap="square" anchor="t" lIns="0" rIns="0" tIns="0" bIns="0">
            <a:spAutoFit/>
          </a:bodyPr>
          <a:lstStyle/>
          <a:p>
            <a:pPr algn="l">
              <a:lnSpc>
                <a:spcPct val="128000"/>
              </a:lnSpc>
              <a:spcBef>
                <a:spcPts val="0"/>
              </a:spcBef>
              <a:spcAft>
                <a:spcPts val="0"/>
              </a:spcAft>
            </a:pPr>
            <a:r>
              <a:rPr sz="1050" b="0" i="0">
                <a:solidFill>
                  <a:srgbClr val="96601F"/>
                </a:solidFill>
                <a:latin typeface="Consolas"/>
              </a:rPr>
              <a:t>Pre-fix latency was 6.2 s — that was the speed of skipping the work.</a:t>
            </a:r>
          </a:p>
        </p:txBody>
      </p:sp>
      <p:sp>
        <p:nvSpPr>
          <p:cNvPr id="34" name="TextBox 33"/>
          <p:cNvSpPr txBox="1"/>
          <p:nvPr/>
        </p:nvSpPr>
        <p:spPr>
          <a:xfrm>
            <a:off x="6862709" y="5728715"/>
            <a:ext cx="4762058" cy="219456"/>
          </a:xfrm>
          <a:prstGeom prst="rect">
            <a:avLst/>
          </a:prstGeom>
          <a:noFill/>
        </p:spPr>
        <p:txBody>
          <a:bodyPr wrap="square" anchor="t" lIns="0" rIns="0" tIns="0" bIns="0">
            <a:spAutoFit/>
          </a:bodyPr>
          <a:lstStyle/>
          <a:p>
            <a:pPr algn="r">
              <a:lnSpc>
                <a:spcPct val="128000"/>
              </a:lnSpc>
              <a:spcBef>
                <a:spcPts val="0"/>
              </a:spcBef>
              <a:spcAft>
                <a:spcPts val="0"/>
              </a:spcAft>
            </a:pPr>
            <a:r>
              <a:rPr sz="1050" b="0" i="0">
                <a:solidFill>
                  <a:srgbClr val="727B8C"/>
                </a:solidFill>
                <a:latin typeface="Consolas"/>
              </a:rPr>
              <a:t>Any number from before 26 Jul describes a degraded pipeline.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11</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LIMITS</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LIMITATIONS</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Where this is honestly not finished</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 y="1828800"/>
            <a:ext cx="5172303" cy="155448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5296" y="1984248"/>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96601F"/>
                </a:solidFill>
                <a:latin typeface="Consolas"/>
              </a:rPr>
              <a:t>GROUNDING IS 96.9%, NOT 100%</a:t>
            </a:r>
          </a:p>
        </p:txBody>
      </p:sp>
      <p:sp>
        <p:nvSpPr>
          <p:cNvPr id="13" name="TextBox 12"/>
          <p:cNvSpPr txBox="1"/>
          <p:nvPr/>
        </p:nvSpPr>
        <p:spPr>
          <a:xfrm>
            <a:off x="1225296" y="2249424"/>
            <a:ext cx="4806543" cy="98755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2 of 64 citations pointed somewhere the retriever never fetched — the report model occasionally reaches for a URL of its own. The fix is a verification pass that rejects unmatched citations. Not built yet.</a:t>
            </a:r>
          </a:p>
        </p:txBody>
      </p:sp>
      <p:sp>
        <p:nvSpPr>
          <p:cNvPr id="14" name="Rectangle 13"/>
          <p:cNvSpPr/>
          <p:nvPr/>
        </p:nvSpPr>
        <p:spPr>
          <a:xfrm>
            <a:off x="6452463" y="1828800"/>
            <a:ext cx="5172303" cy="155448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35343" y="1984248"/>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96601F"/>
                </a:solidFill>
                <a:latin typeface="Consolas"/>
              </a:rPr>
              <a:t>GROUNDING IS NOT CORRECTNESS</a:t>
            </a:r>
          </a:p>
        </p:txBody>
      </p:sp>
      <p:sp>
        <p:nvSpPr>
          <p:cNvPr id="16" name="TextBox 15"/>
          <p:cNvSpPr txBox="1"/>
          <p:nvPr/>
        </p:nvSpPr>
        <p:spPr>
          <a:xfrm>
            <a:off x="6635343" y="2249424"/>
            <a:ext cx="4806543" cy="98755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It is a structural property. It says the citations are real, not that the report's conclusions are right. Read it alongside the credibility spread, not instead of it.</a:t>
            </a:r>
          </a:p>
        </p:txBody>
      </p:sp>
      <p:sp>
        <p:nvSpPr>
          <p:cNvPr id="17" name="Rectangle 16"/>
          <p:cNvSpPr/>
          <p:nvPr/>
        </p:nvSpPr>
        <p:spPr>
          <a:xfrm>
            <a:off x="1042416" y="3547872"/>
            <a:ext cx="5172303" cy="155448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6" y="3703320"/>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96601F"/>
                </a:solidFill>
                <a:latin typeface="Consolas"/>
              </a:rPr>
              <a:t>TAIL LATENCY IS REAL</a:t>
            </a:r>
          </a:p>
        </p:txBody>
      </p:sp>
      <p:sp>
        <p:nvSpPr>
          <p:cNvPr id="19" name="TextBox 18"/>
          <p:cNvSpPr txBox="1"/>
          <p:nvPr/>
        </p:nvSpPr>
        <p:spPr>
          <a:xfrm>
            <a:off x="1225296" y="3968496"/>
            <a:ext cx="4806543" cy="98755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One of the 6 queries hit the 900 s client timeout and needed a retry; the retry finished in 91.8 s. Slow rather than broken — but it needs a timeout budget before real users.</a:t>
            </a:r>
          </a:p>
        </p:txBody>
      </p:sp>
      <p:sp>
        <p:nvSpPr>
          <p:cNvPr id="20" name="Rectangle 19"/>
          <p:cNvSpPr/>
          <p:nvPr/>
        </p:nvSpPr>
        <p:spPr>
          <a:xfrm>
            <a:off x="6452463" y="3547872"/>
            <a:ext cx="5172303" cy="1554480"/>
          </a:xfrm>
          <a:prstGeom prst="rect">
            <a:avLst/>
          </a:prstGeom>
          <a:solidFill>
            <a:srgbClr val="E7EAF0"/>
          </a:solidFill>
          <a:ln w="9525">
            <a:solidFill>
              <a:srgbClr val="DD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5343" y="3703320"/>
            <a:ext cx="4806543" cy="201168"/>
          </a:xfrm>
          <a:prstGeom prst="rect">
            <a:avLst/>
          </a:prstGeom>
          <a:noFill/>
        </p:spPr>
        <p:txBody>
          <a:bodyPr wrap="square" anchor="t" lIns="0" rIns="0" tIns="0" bIns="0">
            <a:spAutoFit/>
          </a:bodyPr>
          <a:lstStyle/>
          <a:p>
            <a:pPr algn="l">
              <a:lnSpc>
                <a:spcPct val="128000"/>
              </a:lnSpc>
              <a:spcBef>
                <a:spcPts val="0"/>
              </a:spcBef>
              <a:spcAft>
                <a:spcPts val="0"/>
              </a:spcAft>
            </a:pPr>
            <a:r>
              <a:rPr sz="950" b="1" i="0" spc="180">
                <a:solidFill>
                  <a:srgbClr val="96601F"/>
                </a:solidFill>
                <a:latin typeface="Consolas"/>
              </a:rPr>
              <a:t>RESULTS PREDATE THE CURRENT ROUTING</a:t>
            </a:r>
          </a:p>
        </p:txBody>
      </p:sp>
      <p:sp>
        <p:nvSpPr>
          <p:cNvPr id="22" name="TextBox 21"/>
          <p:cNvSpPr txBox="1"/>
          <p:nvPr/>
        </p:nvSpPr>
        <p:spPr>
          <a:xfrm>
            <a:off x="6635343" y="3968496"/>
            <a:ext cx="4806543" cy="987552"/>
          </a:xfrm>
          <a:prstGeom prst="rect">
            <a:avLst/>
          </a:prstGeom>
          <a:noFill/>
        </p:spPr>
        <p:txBody>
          <a:bodyPr wrap="square" anchor="t" lIns="0" rIns="0" tIns="0" bIns="0">
            <a:spAutoFit/>
          </a:bodyPr>
          <a:lstStyle/>
          <a:p>
            <a:pPr algn="l">
              <a:lnSpc>
                <a:spcPct val="136000"/>
              </a:lnSpc>
              <a:spcBef>
                <a:spcPts val="0"/>
              </a:spcBef>
              <a:spcAft>
                <a:spcPts val="0"/>
              </a:spcAft>
            </a:pPr>
            <a:r>
              <a:rPr sz="1200" b="0" i="0">
                <a:solidFill>
                  <a:srgbClr val="464E5E"/>
                </a:solidFill>
                <a:latin typeface="Calibri"/>
              </a:rPr>
              <a:t>The 96.9% was measured on 26 Jul with a Claude Sonnet analyzer; defaults are now free-tier Gemini Flash and Groq. A live run today confirms the pipeline is healthy on that routing — 63.8 s, zero degraded stages, 17 sources — but grounding has not been re-scored on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12</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CONCLUSION</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CONCLUSIONS</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What the project actually demonstrates</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 y="1997964"/>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5296" y="1901952"/>
            <a:ext cx="10399471" cy="365760"/>
          </a:xfrm>
          <a:prstGeom prst="rect">
            <a:avLst/>
          </a:prstGeom>
          <a:noFill/>
        </p:spPr>
        <p:txBody>
          <a:bodyPr wrap="square" anchor="t" lIns="0" rIns="0" tIns="0" bIns="0">
            <a:spAutoFit/>
          </a:bodyPr>
          <a:lstStyle/>
          <a:p>
            <a:pPr>
              <a:lnSpc>
                <a:spcPct val="134000"/>
              </a:lnSpc>
              <a:spcAft>
                <a:spcPts val="0"/>
              </a:spcAft>
            </a:pPr>
            <a:r>
              <a:rPr sz="1400" b="1" i="0">
                <a:solidFill>
                  <a:srgbClr val="161A22"/>
                </a:solidFill>
                <a:latin typeface="Calibri"/>
              </a:rPr>
              <a:t>Decomposition buys verifiability, not just quality. </a:t>
            </a:r>
            <a:r>
              <a:rPr sz="1400" b="0" i="0">
                <a:solidFill>
                  <a:srgbClr val="464E5E"/>
                </a:solidFill>
                <a:latin typeface="Calibri"/>
              </a:rPr>
              <a:t>Because retrieval is a separate stage that retains its output, "is this citation real?" becomes a computable question. In a single prompt it isn't.</a:t>
            </a:r>
          </a:p>
        </p:txBody>
      </p:sp>
      <p:sp>
        <p:nvSpPr>
          <p:cNvPr id="13" name="Rectangle 12"/>
          <p:cNvSpPr/>
          <p:nvPr/>
        </p:nvSpPr>
        <p:spPr>
          <a:xfrm>
            <a:off x="1042416" y="2674620"/>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5296" y="2578608"/>
            <a:ext cx="10399471" cy="365760"/>
          </a:xfrm>
          <a:prstGeom prst="rect">
            <a:avLst/>
          </a:prstGeom>
          <a:noFill/>
        </p:spPr>
        <p:txBody>
          <a:bodyPr wrap="square" anchor="t" lIns="0" rIns="0" tIns="0" bIns="0">
            <a:spAutoFit/>
          </a:bodyPr>
          <a:lstStyle/>
          <a:p>
            <a:pPr>
              <a:lnSpc>
                <a:spcPct val="134000"/>
              </a:lnSpc>
              <a:spcAft>
                <a:spcPts val="0"/>
              </a:spcAft>
            </a:pPr>
            <a:r>
              <a:rPr sz="1400" b="1" i="0">
                <a:solidFill>
                  <a:srgbClr val="161A22"/>
                </a:solidFill>
                <a:latin typeface="Calibri"/>
              </a:rPr>
              <a:t>The measurable failure mode is fabricated sources. </a:t>
            </a:r>
            <a:r>
              <a:rPr sz="1400" b="0" i="0">
                <a:solidFill>
                  <a:srgbClr val="464E5E"/>
                </a:solidFill>
                <a:latin typeface="Calibri"/>
              </a:rPr>
              <a:t>12 of 35 baseline URLs were dead. Multi-agent: 0 of 64.</a:t>
            </a:r>
          </a:p>
        </p:txBody>
      </p:sp>
      <p:sp>
        <p:nvSpPr>
          <p:cNvPr id="15" name="Rectangle 14"/>
          <p:cNvSpPr/>
          <p:nvPr/>
        </p:nvSpPr>
        <p:spPr>
          <a:xfrm>
            <a:off x="1042416" y="3113532"/>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6" y="3017520"/>
            <a:ext cx="10399471" cy="365760"/>
          </a:xfrm>
          <a:prstGeom prst="rect">
            <a:avLst/>
          </a:prstGeom>
          <a:noFill/>
        </p:spPr>
        <p:txBody>
          <a:bodyPr wrap="square" anchor="t" lIns="0" rIns="0" tIns="0" bIns="0">
            <a:spAutoFit/>
          </a:bodyPr>
          <a:lstStyle/>
          <a:p>
            <a:pPr>
              <a:lnSpc>
                <a:spcPct val="134000"/>
              </a:lnSpc>
              <a:spcAft>
                <a:spcPts val="0"/>
              </a:spcAft>
            </a:pPr>
            <a:r>
              <a:rPr sz="1400" b="1" i="0">
                <a:solidFill>
                  <a:srgbClr val="161A22"/>
                </a:solidFill>
                <a:latin typeface="Calibri"/>
              </a:rPr>
              <a:t>Latency is the price of grounding. </a:t>
            </a:r>
            <a:r>
              <a:rPr sz="1400" b="0" i="0">
                <a:solidFill>
                  <a:srgbClr val="464E5E"/>
                </a:solidFill>
                <a:latin typeface="Calibri"/>
              </a:rPr>
              <a:t>2.4× slower, and that trade is the product decision — not an implementation defect to optimize away.</a:t>
            </a:r>
          </a:p>
        </p:txBody>
      </p:sp>
      <p:sp>
        <p:nvSpPr>
          <p:cNvPr id="17" name="Rectangle 16"/>
          <p:cNvSpPr/>
          <p:nvPr/>
        </p:nvSpPr>
        <p:spPr>
          <a:xfrm>
            <a:off x="1042416" y="3790188"/>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5296" y="3694176"/>
            <a:ext cx="10399471" cy="365760"/>
          </a:xfrm>
          <a:prstGeom prst="rect">
            <a:avLst/>
          </a:prstGeom>
          <a:noFill/>
        </p:spPr>
        <p:txBody>
          <a:bodyPr wrap="square" anchor="t" lIns="0" rIns="0" tIns="0" bIns="0">
            <a:spAutoFit/>
          </a:bodyPr>
          <a:lstStyle/>
          <a:p>
            <a:pPr>
              <a:lnSpc>
                <a:spcPct val="134000"/>
              </a:lnSpc>
              <a:spcAft>
                <a:spcPts val="0"/>
              </a:spcAft>
            </a:pPr>
            <a:r>
              <a:rPr sz="1400" b="1" i="0">
                <a:solidFill>
                  <a:srgbClr val="161A22"/>
                </a:solidFill>
                <a:latin typeface="Calibri"/>
              </a:rPr>
              <a:t>Silent failure is the real enemy in agent systems. </a:t>
            </a:r>
            <a:r>
              <a:rPr sz="1400" b="0" i="0">
                <a:solidFill>
                  <a:srgbClr val="464E5E"/>
                </a:solidFill>
                <a:latin typeface="Calibri"/>
              </a:rPr>
              <a:t>Every serious bug here returned HTTP 200 with a normal-looking report. Attributable degradation is a feature, not logging.</a:t>
            </a:r>
          </a:p>
        </p:txBody>
      </p:sp>
      <p:sp>
        <p:nvSpPr>
          <p:cNvPr id="19" name="Rectangle 18"/>
          <p:cNvSpPr/>
          <p:nvPr/>
        </p:nvSpPr>
        <p:spPr>
          <a:xfrm>
            <a:off x="1042416" y="4466844"/>
            <a:ext cx="77724" cy="17373"/>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25296" y="4370832"/>
            <a:ext cx="10399471" cy="365760"/>
          </a:xfrm>
          <a:prstGeom prst="rect">
            <a:avLst/>
          </a:prstGeom>
          <a:noFill/>
        </p:spPr>
        <p:txBody>
          <a:bodyPr wrap="square" anchor="t" lIns="0" rIns="0" tIns="0" bIns="0">
            <a:spAutoFit/>
          </a:bodyPr>
          <a:lstStyle/>
          <a:p>
            <a:pPr>
              <a:lnSpc>
                <a:spcPct val="134000"/>
              </a:lnSpc>
              <a:spcAft>
                <a:spcPts val="0"/>
              </a:spcAft>
            </a:pPr>
            <a:r>
              <a:rPr sz="1400" b="1" i="0">
                <a:solidFill>
                  <a:srgbClr val="161A22"/>
                </a:solidFill>
                <a:latin typeface="Calibri"/>
              </a:rPr>
              <a:t>Right-sized routing makes it free to run. </a:t>
            </a:r>
            <a:r>
              <a:rPr sz="1400" b="0" i="0">
                <a:solidFill>
                  <a:srgbClr val="464E5E"/>
                </a:solidFill>
                <a:latin typeface="Calibri"/>
              </a:rPr>
              <a:t>Five stages, five model slots, zero inference cost — with a paid analyzer as a one-variable upgrade.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66928" cy="274320"/>
          </a:xfrm>
          <a:prstGeom prst="rect">
            <a:avLst/>
          </a:prstGeom>
          <a:noFill/>
        </p:spPr>
        <p:txBody>
          <a:bodyPr wrap="square" anchor="t" lIns="0" rIns="0" tIns="0" bIns="0">
            <a:spAutoFit/>
          </a:bodyPr>
          <a:lstStyle/>
          <a:p>
            <a:pPr algn="ctr">
              <a:lnSpc>
                <a:spcPct val="128000"/>
              </a:lnSpc>
              <a:spcBef>
                <a:spcPts val="0"/>
              </a:spcBef>
              <a:spcAft>
                <a:spcPts val="0"/>
              </a:spcAft>
            </a:pPr>
            <a:r>
              <a:rPr sz="1000" b="0" i="0" spc="60">
                <a:solidFill>
                  <a:srgbClr val="727B8C"/>
                </a:solidFill>
                <a:latin typeface="Consolas"/>
              </a:rPr>
              <a:t>13</a:t>
            </a:r>
          </a:p>
        </p:txBody>
      </p:sp>
      <p:sp>
        <p:nvSpPr>
          <p:cNvPr id="6" name="TextBox 5"/>
          <p:cNvSpPr txBox="1"/>
          <p:nvPr/>
        </p:nvSpPr>
        <p:spPr>
          <a:xfrm rot="16200000">
            <a:off x="-502920" y="3291840"/>
            <a:ext cx="1554480" cy="274320"/>
          </a:xfrm>
          <a:prstGeom prst="rect">
            <a:avLst/>
          </a:prstGeom>
          <a:noFill/>
        </p:spPr>
        <p:txBody>
          <a:bodyPr wrap="square" anchor="t" lIns="0" rIns="0" tIns="0" bIns="0">
            <a:spAutoFit/>
          </a:bodyPr>
          <a:lstStyle/>
          <a:p>
            <a:pPr algn="ctr">
              <a:lnSpc>
                <a:spcPct val="128000"/>
              </a:lnSpc>
              <a:spcBef>
                <a:spcPts val="0"/>
              </a:spcBef>
              <a:spcAft>
                <a:spcPts val="0"/>
              </a:spcAft>
            </a:pPr>
            <a:r>
              <a:rPr sz="850" b="0" i="0" spc="200">
                <a:solidFill>
                  <a:srgbClr val="2E4A8F"/>
                </a:solidFill>
                <a:latin typeface="Consolas"/>
              </a:rPr>
              <a:t>FUTURE</a:t>
            </a:r>
          </a:p>
        </p:txBody>
      </p:sp>
      <p:sp>
        <p:nvSpPr>
          <p:cNvPr id="7" name="Rectangle 6"/>
          <p:cNvSpPr/>
          <p:nvPr/>
        </p:nvSpPr>
        <p:spPr>
          <a:xfrm>
            <a:off x="233172" y="6382512"/>
            <a:ext cx="100584" cy="100584"/>
          </a:xfrm>
          <a:prstGeom prst="rect">
            <a:avLst/>
          </a:prstGeom>
          <a:noFill/>
          <a:ln w="15240">
            <a:solidFill>
              <a:srgbClr val="2E4A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475488"/>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00" b="0" i="0" spc="200">
                <a:solidFill>
                  <a:srgbClr val="727B8C"/>
                </a:solidFill>
                <a:latin typeface="Consolas"/>
              </a:rPr>
              <a:t>FUTURE WORK</a:t>
            </a:r>
          </a:p>
        </p:txBody>
      </p:sp>
      <p:sp>
        <p:nvSpPr>
          <p:cNvPr id="9" name="TextBox 8"/>
          <p:cNvSpPr txBox="1"/>
          <p:nvPr/>
        </p:nvSpPr>
        <p:spPr>
          <a:xfrm>
            <a:off x="1042416" y="749808"/>
            <a:ext cx="10582351" cy="685800"/>
          </a:xfrm>
          <a:prstGeom prst="rect">
            <a:avLst/>
          </a:prstGeom>
          <a:noFill/>
        </p:spPr>
        <p:txBody>
          <a:bodyPr wrap="square" anchor="t" lIns="0" rIns="0" tIns="0" bIns="0">
            <a:spAutoFit/>
          </a:bodyPr>
          <a:lstStyle/>
          <a:p>
            <a:pPr algn="l">
              <a:lnSpc>
                <a:spcPct val="106000"/>
              </a:lnSpc>
              <a:spcBef>
                <a:spcPts val="0"/>
              </a:spcBef>
              <a:spcAft>
                <a:spcPts val="0"/>
              </a:spcAft>
            </a:pPr>
            <a:r>
              <a:rPr sz="3000" b="1" i="0">
                <a:solidFill>
                  <a:srgbClr val="161A22"/>
                </a:solidFill>
                <a:latin typeface="Georgia"/>
              </a:rPr>
              <a:t>Next, in priority order</a:t>
            </a:r>
          </a:p>
        </p:txBody>
      </p:sp>
      <p:sp>
        <p:nvSpPr>
          <p:cNvPr id="10" name="Rectangle 9"/>
          <p:cNvSpPr/>
          <p:nvPr/>
        </p:nvSpPr>
        <p:spPr>
          <a:xfrm>
            <a:off x="1042416" y="1499616"/>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828800"/>
            <a:ext cx="2835042"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ITEM</a:t>
            </a:r>
          </a:p>
        </p:txBody>
      </p:sp>
      <p:sp>
        <p:nvSpPr>
          <p:cNvPr id="12" name="TextBox 11"/>
          <p:cNvSpPr txBox="1"/>
          <p:nvPr/>
        </p:nvSpPr>
        <p:spPr>
          <a:xfrm>
            <a:off x="4005474" y="1828800"/>
            <a:ext cx="5692277"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WHY IT'S NEXT</a:t>
            </a:r>
          </a:p>
        </p:txBody>
      </p:sp>
      <p:sp>
        <p:nvSpPr>
          <p:cNvPr id="13" name="TextBox 12"/>
          <p:cNvSpPr txBox="1"/>
          <p:nvPr/>
        </p:nvSpPr>
        <p:spPr>
          <a:xfrm>
            <a:off x="9825767" y="1828800"/>
            <a:ext cx="1670983" cy="201168"/>
          </a:xfrm>
          <a:prstGeom prst="rect">
            <a:avLst/>
          </a:prstGeom>
          <a:noFill/>
        </p:spPr>
        <p:txBody>
          <a:bodyPr wrap="square" anchor="t" lIns="0" rIns="0" tIns="0" bIns="0">
            <a:spAutoFit/>
          </a:bodyPr>
          <a:lstStyle/>
          <a:p>
            <a:pPr algn="l">
              <a:lnSpc>
                <a:spcPct val="128000"/>
              </a:lnSpc>
              <a:spcBef>
                <a:spcPts val="0"/>
              </a:spcBef>
              <a:spcAft>
                <a:spcPts val="0"/>
              </a:spcAft>
            </a:pPr>
            <a:r>
              <a:rPr sz="950" b="0" i="0" spc="160">
                <a:solidFill>
                  <a:srgbClr val="727B8C"/>
                </a:solidFill>
                <a:latin typeface="Consolas"/>
              </a:rPr>
              <a:t>STATUS</a:t>
            </a:r>
          </a:p>
        </p:txBody>
      </p:sp>
      <p:sp>
        <p:nvSpPr>
          <p:cNvPr id="14" name="Rectangle 13"/>
          <p:cNvSpPr/>
          <p:nvPr/>
        </p:nvSpPr>
        <p:spPr>
          <a:xfrm>
            <a:off x="1042416" y="2121408"/>
            <a:ext cx="10582351" cy="12801"/>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2240279"/>
            <a:ext cx="283504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Citation verification pass</a:t>
            </a:r>
          </a:p>
        </p:txBody>
      </p:sp>
      <p:sp>
        <p:nvSpPr>
          <p:cNvPr id="16" name="TextBox 15"/>
          <p:cNvSpPr txBox="1"/>
          <p:nvPr/>
        </p:nvSpPr>
        <p:spPr>
          <a:xfrm>
            <a:off x="4005474" y="2240279"/>
            <a:ext cx="5692277"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Reject any citation not matching a retrieved source — closes the 96.9 -&gt; 100% gap by construction</a:t>
            </a:r>
          </a:p>
        </p:txBody>
      </p:sp>
      <p:sp>
        <p:nvSpPr>
          <p:cNvPr id="17" name="TextBox 16"/>
          <p:cNvSpPr txBox="1"/>
          <p:nvPr/>
        </p:nvSpPr>
        <p:spPr>
          <a:xfrm>
            <a:off x="9825767" y="2240279"/>
            <a:ext cx="1670983" cy="27432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96601F"/>
                </a:solidFill>
                <a:latin typeface="Consolas"/>
              </a:rPr>
              <a:t>Designed</a:t>
            </a:r>
          </a:p>
        </p:txBody>
      </p:sp>
      <p:sp>
        <p:nvSpPr>
          <p:cNvPr id="18" name="Rectangle 17"/>
          <p:cNvSpPr/>
          <p:nvPr/>
        </p:nvSpPr>
        <p:spPr>
          <a:xfrm>
            <a:off x="1042416" y="269747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2788920"/>
            <a:ext cx="283504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Re-run eval on free-tier routing</a:t>
            </a:r>
          </a:p>
        </p:txBody>
      </p:sp>
      <p:sp>
        <p:nvSpPr>
          <p:cNvPr id="20" name="TextBox 19"/>
          <p:cNvSpPr txBox="1"/>
          <p:nvPr/>
        </p:nvSpPr>
        <p:spPr>
          <a:xfrm>
            <a:off x="4005474" y="2788920"/>
            <a:ext cx="5692277"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Current defaults are unmeasured; one command, ~10 min</a:t>
            </a:r>
          </a:p>
        </p:txBody>
      </p:sp>
      <p:sp>
        <p:nvSpPr>
          <p:cNvPr id="21" name="TextBox 20"/>
          <p:cNvSpPr txBox="1"/>
          <p:nvPr/>
        </p:nvSpPr>
        <p:spPr>
          <a:xfrm>
            <a:off x="9825767" y="2788920"/>
            <a:ext cx="1670983" cy="27432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96601F"/>
                </a:solidFill>
                <a:latin typeface="Consolas"/>
              </a:rPr>
              <a:t>Immediate</a:t>
            </a:r>
          </a:p>
        </p:txBody>
      </p:sp>
      <p:sp>
        <p:nvSpPr>
          <p:cNvPr id="22" name="Rectangle 21"/>
          <p:cNvSpPr/>
          <p:nvPr/>
        </p:nvSpPr>
        <p:spPr>
          <a:xfrm>
            <a:off x="1042416" y="306323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3154679"/>
            <a:ext cx="283504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Timeout &amp; retry budget</a:t>
            </a:r>
          </a:p>
        </p:txBody>
      </p:sp>
      <p:sp>
        <p:nvSpPr>
          <p:cNvPr id="24" name="TextBox 23"/>
          <p:cNvSpPr txBox="1"/>
          <p:nvPr/>
        </p:nvSpPr>
        <p:spPr>
          <a:xfrm>
            <a:off x="4005474" y="3154679"/>
            <a:ext cx="5692277"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The 900 s tail case must fail fast and visibly instead of hanging</a:t>
            </a:r>
          </a:p>
        </p:txBody>
      </p:sp>
      <p:sp>
        <p:nvSpPr>
          <p:cNvPr id="25" name="TextBox 24"/>
          <p:cNvSpPr txBox="1"/>
          <p:nvPr/>
        </p:nvSpPr>
        <p:spPr>
          <a:xfrm>
            <a:off x="9825767" y="3154679"/>
            <a:ext cx="1670983"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727B8C"/>
                </a:solidFill>
                <a:latin typeface="Consolas"/>
              </a:rPr>
              <a:t>Planned</a:t>
            </a:r>
          </a:p>
        </p:txBody>
      </p:sp>
      <p:sp>
        <p:nvSpPr>
          <p:cNvPr id="26" name="Rectangle 25"/>
          <p:cNvSpPr/>
          <p:nvPr/>
        </p:nvSpPr>
        <p:spPr>
          <a:xfrm>
            <a:off x="1042416" y="3611879"/>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2416" y="3703320"/>
            <a:ext cx="283504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MCP server on PyPI</a:t>
            </a:r>
          </a:p>
        </p:txBody>
      </p:sp>
      <p:sp>
        <p:nvSpPr>
          <p:cNvPr id="28" name="TextBox 27"/>
          <p:cNvSpPr txBox="1"/>
          <p:nvPr/>
        </p:nvSpPr>
        <p:spPr>
          <a:xfrm>
            <a:off x="4005474" y="3703320"/>
            <a:ext cx="5692277"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pip install chronicle-mcp — pipeline built, packaging done</a:t>
            </a:r>
          </a:p>
        </p:txBody>
      </p:sp>
      <p:sp>
        <p:nvSpPr>
          <p:cNvPr id="29" name="TextBox 28"/>
          <p:cNvSpPr txBox="1"/>
          <p:nvPr/>
        </p:nvSpPr>
        <p:spPr>
          <a:xfrm>
            <a:off x="9825767" y="3703320"/>
            <a:ext cx="1670983" cy="27432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2E4A8F"/>
                </a:solidFill>
                <a:latin typeface="Consolas"/>
              </a:rPr>
              <a:t>Built</a:t>
            </a:r>
          </a:p>
        </p:txBody>
      </p:sp>
      <p:sp>
        <p:nvSpPr>
          <p:cNvPr id="30" name="Rectangle 29"/>
          <p:cNvSpPr/>
          <p:nvPr/>
        </p:nvSpPr>
        <p:spPr>
          <a:xfrm>
            <a:off x="1042416" y="397764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6" y="4069080"/>
            <a:ext cx="283504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Persistent project workspaces</a:t>
            </a:r>
          </a:p>
        </p:txBody>
      </p:sp>
      <p:sp>
        <p:nvSpPr>
          <p:cNvPr id="32" name="TextBox 31"/>
          <p:cNvSpPr txBox="1"/>
          <p:nvPr/>
        </p:nvSpPr>
        <p:spPr>
          <a:xfrm>
            <a:off x="4005474" y="4069080"/>
            <a:ext cx="5692277"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Save and revisit research threads across sessions</a:t>
            </a:r>
          </a:p>
        </p:txBody>
      </p:sp>
      <p:sp>
        <p:nvSpPr>
          <p:cNvPr id="33" name="TextBox 32"/>
          <p:cNvSpPr txBox="1"/>
          <p:nvPr/>
        </p:nvSpPr>
        <p:spPr>
          <a:xfrm>
            <a:off x="9825767" y="4069080"/>
            <a:ext cx="1670983"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727B8C"/>
                </a:solidFill>
                <a:latin typeface="Consolas"/>
              </a:rPr>
              <a:t>Planned</a:t>
            </a:r>
          </a:p>
        </p:txBody>
      </p:sp>
      <p:sp>
        <p:nvSpPr>
          <p:cNvPr id="34" name="Rectangle 33"/>
          <p:cNvSpPr/>
          <p:nvPr/>
        </p:nvSpPr>
        <p:spPr>
          <a:xfrm>
            <a:off x="1042416" y="434340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416" y="4434840"/>
            <a:ext cx="2835042" cy="274320"/>
          </a:xfrm>
          <a:prstGeom prst="rect">
            <a:avLst/>
          </a:prstGeom>
          <a:noFill/>
        </p:spPr>
        <p:txBody>
          <a:bodyPr wrap="square" anchor="t" lIns="0" rIns="0" tIns="0" bIns="0">
            <a:spAutoFit/>
          </a:bodyPr>
          <a:lstStyle/>
          <a:p>
            <a:pPr algn="l">
              <a:lnSpc>
                <a:spcPct val="130000"/>
              </a:lnSpc>
              <a:spcBef>
                <a:spcPts val="0"/>
              </a:spcBef>
              <a:spcAft>
                <a:spcPts val="0"/>
              </a:spcAft>
            </a:pPr>
            <a:r>
              <a:rPr sz="1250" b="1" i="0">
                <a:solidFill>
                  <a:srgbClr val="161A22"/>
                </a:solidFill>
                <a:latin typeface="Calibri"/>
              </a:rPr>
              <a:t>Export to Notion / Docs / Linear</a:t>
            </a:r>
          </a:p>
        </p:txBody>
      </p:sp>
      <p:sp>
        <p:nvSpPr>
          <p:cNvPr id="36" name="TextBox 35"/>
          <p:cNvSpPr txBox="1"/>
          <p:nvPr/>
        </p:nvSpPr>
        <p:spPr>
          <a:xfrm>
            <a:off x="4005474" y="4434840"/>
            <a:ext cx="5692277" cy="2743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464E5E"/>
                </a:solidFill>
                <a:latin typeface="Calibri"/>
              </a:rPr>
              <a:t>Removes the last copy-paste step out of the tool</a:t>
            </a:r>
          </a:p>
        </p:txBody>
      </p:sp>
      <p:sp>
        <p:nvSpPr>
          <p:cNvPr id="37" name="TextBox 36"/>
          <p:cNvSpPr txBox="1"/>
          <p:nvPr/>
        </p:nvSpPr>
        <p:spPr>
          <a:xfrm>
            <a:off x="9825767" y="4434840"/>
            <a:ext cx="1670983" cy="274320"/>
          </a:xfrm>
          <a:prstGeom prst="rect">
            <a:avLst/>
          </a:prstGeom>
          <a:noFill/>
        </p:spPr>
        <p:txBody>
          <a:bodyPr wrap="square" anchor="t" lIns="0" rIns="0" tIns="0" bIns="0">
            <a:spAutoFit/>
          </a:bodyPr>
          <a:lstStyle/>
          <a:p>
            <a:pPr algn="l">
              <a:lnSpc>
                <a:spcPct val="130000"/>
              </a:lnSpc>
              <a:spcBef>
                <a:spcPts val="0"/>
              </a:spcBef>
              <a:spcAft>
                <a:spcPts val="0"/>
              </a:spcAft>
            </a:pPr>
            <a:r>
              <a:rPr sz="1150" b="0" i="0">
                <a:solidFill>
                  <a:srgbClr val="727B8C"/>
                </a:solidFill>
                <a:latin typeface="Consolas"/>
              </a:rPr>
              <a:t>Planned</a:t>
            </a:r>
          </a:p>
        </p:txBody>
      </p:sp>
      <p:sp>
        <p:nvSpPr>
          <p:cNvPr id="38" name="Rectangle 37"/>
          <p:cNvSpPr/>
          <p:nvPr/>
        </p:nvSpPr>
        <p:spPr>
          <a:xfrm>
            <a:off x="1042416" y="4709160"/>
            <a:ext cx="10582351" cy="8229"/>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6928" cy="6858000"/>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0"/>
            <a:ext cx="10972" cy="6858000"/>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554480"/>
            <a:ext cx="10582351" cy="219456"/>
          </a:xfrm>
          <a:prstGeom prst="rect">
            <a:avLst/>
          </a:prstGeom>
          <a:noFill/>
        </p:spPr>
        <p:txBody>
          <a:bodyPr wrap="square" anchor="t" lIns="0" rIns="0" tIns="0" bIns="0">
            <a:spAutoFit/>
          </a:bodyPr>
          <a:lstStyle/>
          <a:p>
            <a:pPr algn="l">
              <a:lnSpc>
                <a:spcPct val="128000"/>
              </a:lnSpc>
              <a:spcBef>
                <a:spcPts val="0"/>
              </a:spcBef>
              <a:spcAft>
                <a:spcPts val="0"/>
              </a:spcAft>
            </a:pPr>
            <a:r>
              <a:rPr sz="1050" b="0" i="0" spc="200">
                <a:solidFill>
                  <a:srgbClr val="727B8C"/>
                </a:solidFill>
                <a:latin typeface="Consolas"/>
              </a:rPr>
              <a:t>THANK YOU  ·  QUESTIONS</a:t>
            </a:r>
          </a:p>
        </p:txBody>
      </p:sp>
      <p:sp>
        <p:nvSpPr>
          <p:cNvPr id="6" name="TextBox 5"/>
          <p:cNvSpPr txBox="1"/>
          <p:nvPr/>
        </p:nvSpPr>
        <p:spPr>
          <a:xfrm>
            <a:off x="1042416" y="1901952"/>
            <a:ext cx="10582351" cy="914400"/>
          </a:xfrm>
          <a:prstGeom prst="rect">
            <a:avLst/>
          </a:prstGeom>
          <a:noFill/>
        </p:spPr>
        <p:txBody>
          <a:bodyPr wrap="square" anchor="t" lIns="0" rIns="0" tIns="0" bIns="0">
            <a:spAutoFit/>
          </a:bodyPr>
          <a:lstStyle/>
          <a:p>
            <a:pPr algn="l">
              <a:lnSpc>
                <a:spcPct val="100000"/>
              </a:lnSpc>
              <a:spcBef>
                <a:spcPts val="0"/>
              </a:spcBef>
              <a:spcAft>
                <a:spcPts val="0"/>
              </a:spcAft>
            </a:pPr>
            <a:r>
              <a:rPr sz="5000" b="1" i="0">
                <a:solidFill>
                  <a:srgbClr val="161A22"/>
                </a:solidFill>
                <a:latin typeface="Georgia"/>
              </a:rPr>
              <a:t>Chronicle</a:t>
            </a:r>
          </a:p>
        </p:txBody>
      </p:sp>
      <p:sp>
        <p:nvSpPr>
          <p:cNvPr id="7" name="TextBox 6"/>
          <p:cNvSpPr txBox="1"/>
          <p:nvPr/>
        </p:nvSpPr>
        <p:spPr>
          <a:xfrm>
            <a:off x="1042416" y="2907792"/>
            <a:ext cx="7407645" cy="548640"/>
          </a:xfrm>
          <a:prstGeom prst="rect">
            <a:avLst/>
          </a:prstGeom>
          <a:noFill/>
        </p:spPr>
        <p:txBody>
          <a:bodyPr wrap="square" anchor="t" lIns="0" rIns="0" tIns="0" bIns="0">
            <a:spAutoFit/>
          </a:bodyPr>
          <a:lstStyle/>
          <a:p>
            <a:pPr algn="l">
              <a:lnSpc>
                <a:spcPct val="142000"/>
              </a:lnSpc>
              <a:spcBef>
                <a:spcPts val="0"/>
              </a:spcBef>
              <a:spcAft>
                <a:spcPts val="0"/>
              </a:spcAft>
            </a:pPr>
            <a:r>
              <a:rPr sz="1600" b="0" i="0">
                <a:solidFill>
                  <a:srgbClr val="464E5E"/>
                </a:solidFill>
                <a:latin typeface="Calibri"/>
              </a:rPr>
              <a:t>Five agents, seventeen sources, and a harness that checks whether the citations are real.</a:t>
            </a:r>
          </a:p>
        </p:txBody>
      </p:sp>
      <p:sp>
        <p:nvSpPr>
          <p:cNvPr id="8" name="Rectangle 7"/>
          <p:cNvSpPr/>
          <p:nvPr/>
        </p:nvSpPr>
        <p:spPr>
          <a:xfrm>
            <a:off x="1042416" y="3749039"/>
            <a:ext cx="402336" cy="23774"/>
          </a:xfrm>
          <a:prstGeom prst="rect">
            <a:avLst/>
          </a:prstGeom>
          <a:solidFill>
            <a:srgbClr val="2E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069080"/>
            <a:ext cx="4867881"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LIVE DEMO</a:t>
            </a:r>
          </a:p>
        </p:txBody>
      </p:sp>
      <p:sp>
        <p:nvSpPr>
          <p:cNvPr id="10" name="TextBox 9"/>
          <p:cNvSpPr txBox="1"/>
          <p:nvPr/>
        </p:nvSpPr>
        <p:spPr>
          <a:xfrm>
            <a:off x="1042416" y="4288536"/>
            <a:ext cx="4867881" cy="219456"/>
          </a:xfrm>
          <a:prstGeom prst="rect">
            <a:avLst/>
          </a:prstGeom>
          <a:noFill/>
        </p:spPr>
        <p:txBody>
          <a:bodyPr wrap="square" anchor="t" lIns="0" rIns="0" tIns="0" bIns="0">
            <a:spAutoFit/>
          </a:bodyPr>
          <a:lstStyle/>
          <a:p>
            <a:pPr algn="l">
              <a:lnSpc>
                <a:spcPct val="128000"/>
              </a:lnSpc>
              <a:spcBef>
                <a:spcPts val="0"/>
              </a:spcBef>
              <a:spcAft>
                <a:spcPts val="0"/>
              </a:spcAft>
            </a:pPr>
            <a:r>
              <a:rPr sz="1300" b="0" i="0">
                <a:solidFill>
                  <a:srgbClr val="464E5E"/>
                </a:solidFill>
                <a:latin typeface="Calibri"/>
              </a:rPr>
              <a:t>deep-research.intelliforge.tech</a:t>
            </a:r>
          </a:p>
        </p:txBody>
      </p:sp>
      <p:sp>
        <p:nvSpPr>
          <p:cNvPr id="11" name="TextBox 10"/>
          <p:cNvSpPr txBox="1"/>
          <p:nvPr/>
        </p:nvSpPr>
        <p:spPr>
          <a:xfrm>
            <a:off x="6121944" y="4069080"/>
            <a:ext cx="4867881"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API HEALTH</a:t>
            </a:r>
          </a:p>
        </p:txBody>
      </p:sp>
      <p:sp>
        <p:nvSpPr>
          <p:cNvPr id="12" name="TextBox 11"/>
          <p:cNvSpPr txBox="1"/>
          <p:nvPr/>
        </p:nvSpPr>
        <p:spPr>
          <a:xfrm>
            <a:off x="6121944" y="4288536"/>
            <a:ext cx="4867881" cy="219456"/>
          </a:xfrm>
          <a:prstGeom prst="rect">
            <a:avLst/>
          </a:prstGeom>
          <a:noFill/>
        </p:spPr>
        <p:txBody>
          <a:bodyPr wrap="square" anchor="t" lIns="0" rIns="0" tIns="0" bIns="0">
            <a:spAutoFit/>
          </a:bodyPr>
          <a:lstStyle/>
          <a:p>
            <a:pPr algn="l">
              <a:lnSpc>
                <a:spcPct val="128000"/>
              </a:lnSpc>
              <a:spcBef>
                <a:spcPts val="0"/>
              </a:spcBef>
              <a:spcAft>
                <a:spcPts val="0"/>
              </a:spcAft>
            </a:pPr>
            <a:r>
              <a:rPr sz="1300" b="0" i="0">
                <a:solidFill>
                  <a:srgbClr val="464E5E"/>
                </a:solidFill>
                <a:latin typeface="Calibri"/>
              </a:rPr>
              <a:t>multi-agent-deep-research-api.fly.dev/api/health</a:t>
            </a:r>
          </a:p>
        </p:txBody>
      </p:sp>
      <p:sp>
        <p:nvSpPr>
          <p:cNvPr id="13" name="TextBox 12"/>
          <p:cNvSpPr txBox="1"/>
          <p:nvPr/>
        </p:nvSpPr>
        <p:spPr>
          <a:xfrm>
            <a:off x="1042416" y="4709160"/>
            <a:ext cx="4867881"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SOURCE</a:t>
            </a:r>
          </a:p>
        </p:txBody>
      </p:sp>
      <p:sp>
        <p:nvSpPr>
          <p:cNvPr id="14" name="TextBox 13"/>
          <p:cNvSpPr txBox="1"/>
          <p:nvPr/>
        </p:nvSpPr>
        <p:spPr>
          <a:xfrm>
            <a:off x="1042416" y="4928616"/>
            <a:ext cx="4867881" cy="219456"/>
          </a:xfrm>
          <a:prstGeom prst="rect">
            <a:avLst/>
          </a:prstGeom>
          <a:noFill/>
        </p:spPr>
        <p:txBody>
          <a:bodyPr wrap="square" anchor="t" lIns="0" rIns="0" tIns="0" bIns="0">
            <a:spAutoFit/>
          </a:bodyPr>
          <a:lstStyle/>
          <a:p>
            <a:pPr algn="l">
              <a:lnSpc>
                <a:spcPct val="128000"/>
              </a:lnSpc>
              <a:spcBef>
                <a:spcPts val="0"/>
              </a:spcBef>
              <a:spcAft>
                <a:spcPts val="0"/>
              </a:spcAft>
            </a:pPr>
            <a:r>
              <a:rPr sz="1300" b="0" i="0">
                <a:solidFill>
                  <a:srgbClr val="464E5E"/>
                </a:solidFill>
                <a:latin typeface="Calibri"/>
              </a:rPr>
              <a:t>github.com/gengirish/multi-agent-deep-research</a:t>
            </a:r>
          </a:p>
        </p:txBody>
      </p:sp>
      <p:sp>
        <p:nvSpPr>
          <p:cNvPr id="15" name="TextBox 14"/>
          <p:cNvSpPr txBox="1"/>
          <p:nvPr/>
        </p:nvSpPr>
        <p:spPr>
          <a:xfrm>
            <a:off x="6121944" y="4709160"/>
            <a:ext cx="4867881" cy="182880"/>
          </a:xfrm>
          <a:prstGeom prst="rect">
            <a:avLst/>
          </a:prstGeom>
          <a:noFill/>
        </p:spPr>
        <p:txBody>
          <a:bodyPr wrap="square" anchor="t" lIns="0" rIns="0" tIns="0" bIns="0">
            <a:spAutoFit/>
          </a:bodyPr>
          <a:lstStyle/>
          <a:p>
            <a:pPr algn="l">
              <a:lnSpc>
                <a:spcPct val="128000"/>
              </a:lnSpc>
              <a:spcBef>
                <a:spcPts val="0"/>
              </a:spcBef>
              <a:spcAft>
                <a:spcPts val="0"/>
              </a:spcAft>
            </a:pPr>
            <a:r>
              <a:rPr sz="950" b="0" i="0" spc="180">
                <a:solidFill>
                  <a:srgbClr val="727B8C"/>
                </a:solidFill>
                <a:latin typeface="Consolas"/>
              </a:rPr>
              <a:t>EVAL DETAIL</a:t>
            </a:r>
          </a:p>
        </p:txBody>
      </p:sp>
      <p:sp>
        <p:nvSpPr>
          <p:cNvPr id="16" name="TextBox 15"/>
          <p:cNvSpPr txBox="1"/>
          <p:nvPr/>
        </p:nvSpPr>
        <p:spPr>
          <a:xfrm>
            <a:off x="6121944" y="4928616"/>
            <a:ext cx="4867881" cy="219456"/>
          </a:xfrm>
          <a:prstGeom prst="rect">
            <a:avLst/>
          </a:prstGeom>
          <a:noFill/>
        </p:spPr>
        <p:txBody>
          <a:bodyPr wrap="square" anchor="t" lIns="0" rIns="0" tIns="0" bIns="0">
            <a:spAutoFit/>
          </a:bodyPr>
          <a:lstStyle/>
          <a:p>
            <a:pPr algn="l">
              <a:lnSpc>
                <a:spcPct val="128000"/>
              </a:lnSpc>
              <a:spcBef>
                <a:spcPts val="0"/>
              </a:spcBef>
              <a:spcAft>
                <a:spcPts val="0"/>
              </a:spcAft>
            </a:pPr>
            <a:r>
              <a:rPr sz="1300" b="0" i="0">
                <a:solidFill>
                  <a:srgbClr val="464E5E"/>
                </a:solidFill>
                <a:latin typeface="Calibri"/>
              </a:rPr>
              <a:t>eval/README.md · eval/results/</a:t>
            </a:r>
          </a:p>
        </p:txBody>
      </p:sp>
      <p:sp>
        <p:nvSpPr>
          <p:cNvPr id="17" name="Rectangle 16"/>
          <p:cNvSpPr/>
          <p:nvPr/>
        </p:nvSpPr>
        <p:spPr>
          <a:xfrm>
            <a:off x="1042416" y="5742432"/>
            <a:ext cx="10582351" cy="12801"/>
          </a:xfrm>
          <a:prstGeom prst="rect">
            <a:avLst/>
          </a:prstGeom>
          <a:solidFill>
            <a:srgbClr val="DD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5888736"/>
            <a:ext cx="7407645" cy="219456"/>
          </a:xfrm>
          <a:prstGeom prst="rect">
            <a:avLst/>
          </a:prstGeom>
          <a:noFill/>
        </p:spPr>
        <p:txBody>
          <a:bodyPr wrap="square" anchor="t" lIns="0" rIns="0" tIns="0" bIns="0">
            <a:spAutoFit/>
          </a:bodyPr>
          <a:lstStyle/>
          <a:p>
            <a:pPr algn="l">
              <a:lnSpc>
                <a:spcPct val="128000"/>
              </a:lnSpc>
              <a:spcBef>
                <a:spcPts val="0"/>
              </a:spcBef>
              <a:spcAft>
                <a:spcPts val="0"/>
              </a:spcAft>
            </a:pPr>
            <a:r>
              <a:rPr sz="1050" b="0" i="0">
                <a:solidFill>
                  <a:srgbClr val="727B8C"/>
                </a:solidFill>
                <a:latin typeface="Consolas"/>
              </a:rPr>
              <a:t>96.9% grounded · 100% of cited URLs resolve · $0 per run</a:t>
            </a:r>
          </a:p>
        </p:txBody>
      </p:sp>
      <p:sp>
        <p:nvSpPr>
          <p:cNvPr id="19" name="TextBox 18"/>
          <p:cNvSpPr txBox="1"/>
          <p:nvPr/>
        </p:nvSpPr>
        <p:spPr>
          <a:xfrm>
            <a:off x="8450061" y="5888736"/>
            <a:ext cx="3174705" cy="219456"/>
          </a:xfrm>
          <a:prstGeom prst="rect">
            <a:avLst/>
          </a:prstGeom>
          <a:noFill/>
        </p:spPr>
        <p:txBody>
          <a:bodyPr wrap="square" anchor="t" lIns="0" rIns="0" tIns="0" bIns="0">
            <a:spAutoFit/>
          </a:bodyPr>
          <a:lstStyle/>
          <a:p>
            <a:pPr algn="r">
              <a:lnSpc>
                <a:spcPct val="128000"/>
              </a:lnSpc>
              <a:spcBef>
                <a:spcPts val="0"/>
              </a:spcBef>
              <a:spcAft>
                <a:spcPts val="0"/>
              </a:spcAft>
            </a:pPr>
            <a:r>
              <a:rPr sz="1050" b="0" i="0">
                <a:solidFill>
                  <a:srgbClr val="727B8C"/>
                </a:solidFill>
                <a:latin typeface="Consolas"/>
              </a:rPr>
              <a:t>Girish Hiremath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